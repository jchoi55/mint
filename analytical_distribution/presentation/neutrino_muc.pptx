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007" r:id="rId3"/>
    <p:sldId id="2008" r:id="rId4"/>
    <p:sldId id="2009" r:id="rId5"/>
    <p:sldId id="2011" r:id="rId6"/>
    <p:sldId id="2010" r:id="rId7"/>
    <p:sldId id="2014" r:id="rId8"/>
    <p:sldId id="2019" r:id="rId9"/>
    <p:sldId id="2023" r:id="rId10"/>
    <p:sldId id="2020" r:id="rId11"/>
    <p:sldId id="2024" r:id="rId12"/>
    <p:sldId id="2021" r:id="rId13"/>
    <p:sldId id="2022" r:id="rId14"/>
    <p:sldId id="2017" r:id="rId15"/>
    <p:sldId id="2013" r:id="rId16"/>
    <p:sldId id="2012" r:id="rId17"/>
    <p:sldId id="201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85" d="100"/>
          <a:sy n="85" d="100"/>
        </p:scale>
        <p:origin x="2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99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D8D800F-5B5F-1D0E-9CAB-71AA0CA17A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3358C3-9CD4-8718-3C3C-0D3CDE80C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A271B-0158-48D8-849A-F2122D5124B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05C0FD-BC24-CA82-3A72-83A03E669B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E5B9BB-E948-AFBC-1081-CAADBF0232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D0954-ED51-4064-89C6-6D4F2DF28E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565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D00B9-4766-4E66-A103-86969EE48BDF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D7369-19C5-4AFC-8D89-C45239DC2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15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2CE40-0680-FAD6-F4F3-85466B1A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F7C086-9BA1-8A8F-F6CF-B318E0377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456064A4-8711-193B-A64F-3B4B12D2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8/7/2025</a:t>
            </a:r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307FAC96-DB6F-C083-9648-B3DED88D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3BB6F43-B331-E0EE-BE98-793EB8F8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6F9FE219-8C91-41EA-B415-E8E26B7A5C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435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A1DD5-BFB8-579C-D6EF-45086F66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D1E06-DE18-91DF-3F5A-968EDF279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F6E8F-3FF0-8444-E639-6D9B497F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79C9A-5F5A-B64D-C255-8962C756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FA706-A740-CEE7-CE59-5206536A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6F9FE219-8C91-41EA-B415-E8E26B7A5C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679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67F24-B4FF-A850-5CEE-03F31ED2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00B49-73E2-9F24-6BD0-9517C5BE1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98312-B76E-68C8-E944-2116F54E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153A38-C74A-615A-1EDC-6422EF4F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4FEA5D-06C1-9391-6F22-286E9712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33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BFA98-E2A6-5343-902A-520B90E7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918EF-15D6-95F3-C1FB-4FF90CA4B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2FCB18-14FA-0D62-C8F1-53E8ED123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A2B9A1-D725-FB6C-C239-F7779679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A76B1F-2CDC-A5C8-E5B8-2F4BE489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186FE-6D58-955E-59A3-86AEEAB7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98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99D12-5C62-9DA5-D8D6-4C648323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C73B84-2089-6D0C-CE15-528D416BC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46DDFD-FBE7-85AA-AB3B-8FE370D84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1B55CD-ACD4-91B8-78EC-2D81DDA0E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22F6F8-6375-14A7-B332-21E64821F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7173A5-3DFC-C5BD-B57B-EA2B3FF5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1E5E37-9043-58C8-8A3A-AD511D09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824D8B-31D5-F840-4152-DF6435F8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06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823-96C6-2D93-3A4B-D4378224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1173BB-BC1C-28ED-B99E-2A48CCED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DA0BB7-CB08-3535-D9A6-99E63A93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7D5CE6-B1C4-B86D-7520-F6CE18F9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97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2EEF9E-4ABB-2381-C1E5-555C334C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052224-0DAD-38D1-1DDE-1395AAA5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CE32EE-4FA6-B212-F46E-ABDCCF9B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5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3F7ED-5610-4EFB-3269-53ABEF45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3DA42-4CDD-8DE7-E682-E0970AFBE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97D384-DC63-AD12-8D9F-39DA7D02A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23C942-1EF6-6EE6-F3F9-4B958DE4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F79FF7-0BCD-4066-0698-36D0C65C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8389C-7490-FEE5-46A3-F2F9636D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3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0E2C8-0492-443F-6431-827C2A71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A88E4C-7458-2674-A3B3-E494455C5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6D77E2-D76B-BD52-AA64-0F5FED8BC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610B00-0606-6B46-7177-64AC5E0D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63635B-72EF-7DF4-1417-241CDB18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19E375-1746-968E-3DC1-0D49EECF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78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DA3F6-C279-1CE7-BC1F-FBD5C61A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6356F2-AA74-5971-7207-5931BA457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930F1-FAA9-4D44-658C-3CC469D5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B5E14-7346-AE63-49E7-09D83963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789998-6EE8-3F63-99FC-3A6F74B9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1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2534207-02EC-3BCF-0AE5-12B91CBD2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16BA4E-8478-14EF-502F-9062A5CFA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2013E-0A7F-F7D8-3B3B-DE845D74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421D8B-B3D3-841C-839E-2DB7E5A5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854B93-2592-32C5-89CE-FCF0B8D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98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17CD4-80D9-B716-F37C-AA775524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A91A15-439B-17A9-1142-E5054C5FF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749317-3698-1C6C-3E95-E8C3CAF9F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5/19/2025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9CE48-5CC5-F88B-D448-DDEA79C50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Heavy QCD axion @ MuC                                  Peiran Li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6FCF3-8752-75A6-507A-4EC0B690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FE219-8C91-41EA-B415-E8E26B7A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94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xiv.org/abs/2412.1411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8EBFAE4-1632-2B16-30A6-DDDCDB72CF4F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2077895" y="588953"/>
                <a:ext cx="8036210" cy="132243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𝜈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@ 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8EBFAE4-1632-2B16-30A6-DDDCDB72C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2077895" y="588953"/>
                <a:ext cx="8036210" cy="1322439"/>
              </a:xfrm>
              <a:blipFill>
                <a:blip r:embed="rId2"/>
                <a:stretch>
                  <a:fillRect b="-31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B3A62A-0C0A-6E13-7D7F-C7F0C380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054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2F850-5E4B-380E-AA0D-B59FA777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912"/>
            <a:ext cx="10515600" cy="948520"/>
          </a:xfrm>
        </p:spPr>
        <p:txBody>
          <a:bodyPr/>
          <a:lstStyle/>
          <a:p>
            <a:r>
              <a:rPr lang="en-US" dirty="0" err="1"/>
              <a:t>MuC</a:t>
            </a:r>
            <a:r>
              <a:rPr lang="en-US" dirty="0"/>
              <a:t> 10 TeV configuration</a:t>
            </a:r>
          </a:p>
        </p:txBody>
      </p:sp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6FD521D3-4454-CD51-924E-0EB74DA6B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17432"/>
            <a:ext cx="5008808" cy="2474814"/>
          </a:xfr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8BE76-6363-0EAF-9FB9-04F939BF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280163-E1FA-4786-5EFC-BA9700CABA19}"/>
                  </a:ext>
                </a:extLst>
              </p:cNvPr>
              <p:cNvSpPr txBox="1"/>
              <p:nvPr/>
            </p:nvSpPr>
            <p:spPr>
              <a:xfrm>
                <a:off x="5917841" y="1429554"/>
                <a:ext cx="2228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∈(−150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,150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280163-E1FA-4786-5EFC-BA9700CAB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841" y="1429554"/>
                <a:ext cx="2228045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DEDE83B9-DFF8-10D8-5EFE-236FC6AE4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73" y="3825025"/>
            <a:ext cx="5008808" cy="2474814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869F1AF-C239-399B-3F7A-DA8FCCE0491A}"/>
              </a:ext>
            </a:extLst>
          </p:cNvPr>
          <p:cNvCxnSpPr/>
          <p:nvPr/>
        </p:nvCxnSpPr>
        <p:spPr>
          <a:xfrm>
            <a:off x="4477020" y="3583694"/>
            <a:ext cx="0" cy="311024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D336267-B20D-C843-F2FF-898A75EED638}"/>
              </a:ext>
            </a:extLst>
          </p:cNvPr>
          <p:cNvGrpSpPr/>
          <p:nvPr/>
        </p:nvGrpSpPr>
        <p:grpSpPr>
          <a:xfrm>
            <a:off x="7235245" y="4174196"/>
            <a:ext cx="643943" cy="367048"/>
            <a:chOff x="6265572" y="4211390"/>
            <a:chExt cx="643943" cy="367048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A96C950-B9EB-B622-9944-878867C57FED}"/>
                </a:ext>
              </a:extLst>
            </p:cNvPr>
            <p:cNvCxnSpPr/>
            <p:nvPr/>
          </p:nvCxnSpPr>
          <p:spPr>
            <a:xfrm flipH="1" flipV="1">
              <a:off x="6265572" y="4256466"/>
              <a:ext cx="643943" cy="212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BD0C4ABA-EC93-44C0-9F44-4413DFA4C5EC}"/>
                </a:ext>
              </a:extLst>
            </p:cNvPr>
            <p:cNvCxnSpPr/>
            <p:nvPr/>
          </p:nvCxnSpPr>
          <p:spPr>
            <a:xfrm flipH="1" flipV="1">
              <a:off x="6497392" y="4211390"/>
              <a:ext cx="412123" cy="2575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F19BB8F-FBD9-AB77-396D-D30299F47827}"/>
                </a:ext>
              </a:extLst>
            </p:cNvPr>
            <p:cNvCxnSpPr/>
            <p:nvPr/>
          </p:nvCxnSpPr>
          <p:spPr>
            <a:xfrm flipH="1">
              <a:off x="6329966" y="4468968"/>
              <a:ext cx="579549" cy="1094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9C90036-44A4-D0C8-48D9-06A289E7C1DB}"/>
              </a:ext>
            </a:extLst>
          </p:cNvPr>
          <p:cNvCxnSpPr/>
          <p:nvPr/>
        </p:nvCxnSpPr>
        <p:spPr>
          <a:xfrm>
            <a:off x="6816681" y="4422119"/>
            <a:ext cx="2814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55AC3F5-1C1E-F005-1F0E-0108E6617B80}"/>
                  </a:ext>
                </a:extLst>
              </p:cNvPr>
              <p:cNvSpPr txBox="1"/>
              <p:nvPr/>
            </p:nvSpPr>
            <p:spPr>
              <a:xfrm>
                <a:off x="9173515" y="3957803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55AC3F5-1C1E-F005-1F0E-0108E6617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515" y="3957803"/>
                <a:ext cx="457200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A50853C-EC1F-5432-3242-0E4BEF950946}"/>
              </a:ext>
            </a:extLst>
          </p:cNvPr>
          <p:cNvCxnSpPr>
            <a:cxnSpLocks/>
          </p:cNvCxnSpPr>
          <p:nvPr/>
        </p:nvCxnSpPr>
        <p:spPr>
          <a:xfrm flipH="1">
            <a:off x="9035067" y="434531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FC6BBB8E-1F70-EC6F-3C68-4517338FBE13}"/>
              </a:ext>
            </a:extLst>
          </p:cNvPr>
          <p:cNvSpPr/>
          <p:nvPr/>
        </p:nvSpPr>
        <p:spPr>
          <a:xfrm>
            <a:off x="8893399" y="5266632"/>
            <a:ext cx="1474631" cy="145484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4D11B9-45C1-3F21-2ADE-C4F1C0B38DAB}"/>
              </a:ext>
            </a:extLst>
          </p:cNvPr>
          <p:cNvSpPr/>
          <p:nvPr/>
        </p:nvSpPr>
        <p:spPr>
          <a:xfrm>
            <a:off x="8205586" y="5105665"/>
            <a:ext cx="357656" cy="345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9C004A-A73E-68BB-CD9E-008CC57DBF53}"/>
                  </a:ext>
                </a:extLst>
              </p:cNvPr>
              <p:cNvSpPr txBox="1"/>
              <p:nvPr/>
            </p:nvSpPr>
            <p:spPr>
              <a:xfrm>
                <a:off x="7564728" y="2536000"/>
                <a:ext cx="3237427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ℓ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9C004A-A73E-68BB-CD9E-008CC57DB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728" y="2536000"/>
                <a:ext cx="3237427" cy="391646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7783E09-9E29-69BB-A2C5-B986AD3B39BB}"/>
              </a:ext>
            </a:extLst>
          </p:cNvPr>
          <p:cNvCxnSpPr/>
          <p:nvPr/>
        </p:nvCxnSpPr>
        <p:spPr>
          <a:xfrm flipH="1">
            <a:off x="11098904" y="3825025"/>
            <a:ext cx="798490" cy="10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BC07F10-00B9-1696-926D-7AC7C3EEE57F}"/>
              </a:ext>
            </a:extLst>
          </p:cNvPr>
          <p:cNvCxnSpPr/>
          <p:nvPr/>
        </p:nvCxnSpPr>
        <p:spPr>
          <a:xfrm flipH="1" flipV="1">
            <a:off x="10384127" y="3825025"/>
            <a:ext cx="714777" cy="10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5463C6D-1A7B-BC04-AE1C-1AFD7955A49A}"/>
              </a:ext>
            </a:extLst>
          </p:cNvPr>
          <p:cNvCxnSpPr/>
          <p:nvPr/>
        </p:nvCxnSpPr>
        <p:spPr>
          <a:xfrm>
            <a:off x="11098904" y="3934496"/>
            <a:ext cx="0" cy="6632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E3D6CBD-92CE-3E9C-8BF5-C6459A7062F9}"/>
              </a:ext>
            </a:extLst>
          </p:cNvPr>
          <p:cNvCxnSpPr/>
          <p:nvPr/>
        </p:nvCxnSpPr>
        <p:spPr>
          <a:xfrm>
            <a:off x="10490377" y="4597755"/>
            <a:ext cx="12170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F9B1773-7D90-9FE7-1FC8-972009EF9783}"/>
              </a:ext>
            </a:extLst>
          </p:cNvPr>
          <p:cNvCxnSpPr>
            <a:cxnSpLocks/>
          </p:cNvCxnSpPr>
          <p:nvPr/>
        </p:nvCxnSpPr>
        <p:spPr>
          <a:xfrm flipH="1">
            <a:off x="8582968" y="5262934"/>
            <a:ext cx="1047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EA8FD62-3A99-C117-3548-BCD20FB3C0F3}"/>
              </a:ext>
            </a:extLst>
          </p:cNvPr>
          <p:cNvSpPr txBox="1"/>
          <p:nvPr/>
        </p:nvSpPr>
        <p:spPr>
          <a:xfrm>
            <a:off x="9463560" y="4924229"/>
            <a:ext cx="37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61226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E37E1-81FD-A1A5-90C6-81C5A6EB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5922" y="6460677"/>
            <a:ext cx="2743200" cy="365125"/>
          </a:xfrm>
        </p:spPr>
        <p:txBody>
          <a:bodyPr/>
          <a:lstStyle/>
          <a:p>
            <a:fld id="{6F9FE219-8C91-41EA-B415-E8E26B7A5CDA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637A9FC-5CF0-C4D1-8709-EC0B5F94BC47}"/>
                  </a:ext>
                </a:extLst>
              </p:cNvPr>
              <p:cNvSpPr txBox="1"/>
              <p:nvPr/>
            </p:nvSpPr>
            <p:spPr>
              <a:xfrm>
                <a:off x="3902298" y="122349"/>
                <a:ext cx="2015544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637A9FC-5CF0-C4D1-8709-EC0B5F94B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298" y="122349"/>
                <a:ext cx="2015544" cy="427746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37F73BE9-2827-2830-481B-0E5870C05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8" y="594713"/>
            <a:ext cx="11293712" cy="625040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CDADAA1-8D73-CF6E-C396-BA38DCD4B0DE}"/>
              </a:ext>
            </a:extLst>
          </p:cNvPr>
          <p:cNvSpPr txBox="1"/>
          <p:nvPr/>
        </p:nvSpPr>
        <p:spPr>
          <a:xfrm>
            <a:off x="9858778" y="12878"/>
            <a:ext cx="226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Numerical simulation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A57D9B-D62E-F749-4F36-43E80BDE90B9}"/>
              </a:ext>
            </a:extLst>
          </p:cNvPr>
          <p:cNvSpPr txBox="1"/>
          <p:nvPr/>
        </p:nvSpPr>
        <p:spPr>
          <a:xfrm>
            <a:off x="225379" y="12878"/>
            <a:ext cx="3193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z: longitudinal distance from IP; assume muon decay at IP</a:t>
            </a:r>
          </a:p>
        </p:txBody>
      </p:sp>
    </p:spTree>
    <p:extLst>
      <p:ext uri="{BB962C8B-B14F-4D97-AF65-F5344CB8AC3E}">
        <p14:creationId xmlns:p14="http://schemas.microsoft.com/office/powerpoint/2010/main" val="217708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1264-60F1-B499-8C1A-9DC638FD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B9F4753-8137-1B8A-BC02-499DE87041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0064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2800" dirty="0"/>
                  <a:t> angular distribution from a 5TeV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800" dirty="0"/>
                  <a:t> decay at center (z=0)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B9F4753-8137-1B8A-BC02-499DE8704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0064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9B6C0-5A4C-2294-A2CC-BD20D2B8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2C1626C-9EBD-C204-8821-2BF2F6A6B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785" y="1290564"/>
            <a:ext cx="7955296" cy="506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7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7F7-3274-FF55-5F56-DF3BE58C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04933-94CB-B29A-A8F1-E43B1A1D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7C0A67C2-2F8B-ADC5-4F95-192E06AB7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462" y="-40369"/>
            <a:ext cx="6034513" cy="3842667"/>
          </a:xfrm>
          <a:prstGeom prst="rect">
            <a:avLst/>
          </a:prstGeom>
        </p:spPr>
      </p:pic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C75EA5FA-CF1A-EC99-7EA5-E86D8C97FF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3" t="50033" r="33003" b="691"/>
          <a:stretch>
            <a:fillRect/>
          </a:stretch>
        </p:blipFill>
        <p:spPr>
          <a:xfrm>
            <a:off x="6056170" y="3608219"/>
            <a:ext cx="4440432" cy="3938342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9F646BE-0604-F304-A40A-CE76565A5ABD}"/>
              </a:ext>
            </a:extLst>
          </p:cNvPr>
          <p:cNvCxnSpPr>
            <a:cxnSpLocks/>
          </p:cNvCxnSpPr>
          <p:nvPr/>
        </p:nvCxnSpPr>
        <p:spPr>
          <a:xfrm>
            <a:off x="9940187" y="333444"/>
            <a:ext cx="0" cy="5811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225E8A2B-C4AE-C8DD-E50E-430046BF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77" y="492427"/>
            <a:ext cx="3456904" cy="86480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Comparing analytic and numerical result</a:t>
            </a:r>
            <a:r>
              <a:rPr lang="en-US" dirty="0"/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B26BDD-D0E3-525A-7426-461F45F69E40}"/>
              </a:ext>
            </a:extLst>
          </p:cNvPr>
          <p:cNvSpPr txBox="1"/>
          <p:nvPr/>
        </p:nvSpPr>
        <p:spPr>
          <a:xfrm>
            <a:off x="4434726" y="1751526"/>
            <a:ext cx="119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Analytic: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4104F4-2520-2F62-F5C5-06660E7DF028}"/>
              </a:ext>
            </a:extLst>
          </p:cNvPr>
          <p:cNvSpPr txBox="1"/>
          <p:nvPr/>
        </p:nvSpPr>
        <p:spPr>
          <a:xfrm>
            <a:off x="3876542" y="5392724"/>
            <a:ext cx="230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Numerical simulation:</a:t>
            </a:r>
          </a:p>
        </p:txBody>
      </p:sp>
    </p:spTree>
    <p:extLst>
      <p:ext uri="{BB962C8B-B14F-4D97-AF65-F5344CB8AC3E}">
        <p14:creationId xmlns:p14="http://schemas.microsoft.com/office/powerpoint/2010/main" val="99462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B2A5-DB04-5242-8AC6-CE5255C8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DCCA5-90C6-C3B2-62FA-C6BEA5C6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2"/>
            <a:ext cx="10515600" cy="864807"/>
          </a:xfrm>
        </p:spPr>
        <p:txBody>
          <a:bodyPr/>
          <a:lstStyle/>
          <a:p>
            <a:r>
              <a:rPr lang="en-US" dirty="0"/>
              <a:t>Compare with </a:t>
            </a:r>
            <a:r>
              <a:rPr lang="en-US" dirty="0">
                <a:hlinkClick r:id="rId2"/>
              </a:rPr>
              <a:t>2412.14115</a:t>
            </a:r>
            <a:r>
              <a:rPr lang="en-US" dirty="0"/>
              <a:t> </a:t>
            </a:r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532E8D21-3DE1-2C54-5835-08B1C9AC3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345" y="1295400"/>
            <a:ext cx="6182609" cy="3901440"/>
          </a:xfr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4DAAB-9571-6C3A-4AC5-0F572B8F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29CE460-BCB7-A3FF-E7FB-C0D373EF2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2" y="1295400"/>
            <a:ext cx="5585409" cy="397764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E41A07D-2F5D-DB9C-2E7A-F3CDA5D3B119}"/>
              </a:ext>
            </a:extLst>
          </p:cNvPr>
          <p:cNvCxnSpPr>
            <a:cxnSpLocks/>
          </p:cNvCxnSpPr>
          <p:nvPr/>
        </p:nvCxnSpPr>
        <p:spPr>
          <a:xfrm flipH="1" flipV="1">
            <a:off x="1255690" y="2099256"/>
            <a:ext cx="1184856" cy="1329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F93BBA6-875F-FF93-5F1F-853C084345B2}"/>
                  </a:ext>
                </a:extLst>
              </p:cNvPr>
              <p:cNvSpPr txBox="1"/>
              <p:nvPr/>
            </p:nvSpPr>
            <p:spPr>
              <a:xfrm>
                <a:off x="2369712" y="3284220"/>
                <a:ext cx="953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F93BBA6-875F-FF93-5F1F-853C08434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712" y="3284220"/>
                <a:ext cx="95303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20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B39FA-1ADA-D5E6-C6FC-5E77CEB3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E986F-245E-D572-2326-5BACB853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2"/>
            <a:ext cx="10515600" cy="864807"/>
          </a:xfrm>
        </p:spPr>
        <p:txBody>
          <a:bodyPr/>
          <a:lstStyle/>
          <a:p>
            <a:r>
              <a:rPr lang="en-US" altLang="zh-CN" dirty="0"/>
              <a:t>Angular distribution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032243-1AB7-593C-0F1A-3D89A133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994348C3-848E-5318-D628-B973EA8EC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7" y="1154964"/>
            <a:ext cx="5394971" cy="4014224"/>
          </a:xfr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7A3A0B14-3A93-78AD-CFCC-9E1479356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14" y="1154964"/>
            <a:ext cx="5394971" cy="4014224"/>
          </a:xfrm>
          <a:prstGeom prst="rect">
            <a:avLst/>
          </a:prstGeom>
        </p:spPr>
      </p:pic>
      <p:sp>
        <p:nvSpPr>
          <p:cNvPr id="9" name="右大括号 8">
            <a:extLst>
              <a:ext uri="{FF2B5EF4-FFF2-40B4-BE49-F238E27FC236}">
                <a16:creationId xmlns:a16="http://schemas.microsoft.com/office/drawing/2014/main" id="{89E01BAB-0B9E-77FE-90B4-F32BA7BD3C49}"/>
              </a:ext>
            </a:extLst>
          </p:cNvPr>
          <p:cNvSpPr/>
          <p:nvPr/>
        </p:nvSpPr>
        <p:spPr>
          <a:xfrm rot="5400000">
            <a:off x="7196910" y="4690290"/>
            <a:ext cx="278435" cy="67936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E60B5A5-2B25-EBA8-B421-4FEC15A9C29C}"/>
              </a:ext>
            </a:extLst>
          </p:cNvPr>
          <p:cNvCxnSpPr>
            <a:cxnSpLocks/>
          </p:cNvCxnSpPr>
          <p:nvPr/>
        </p:nvCxnSpPr>
        <p:spPr>
          <a:xfrm flipH="1">
            <a:off x="7336127" y="5219337"/>
            <a:ext cx="1" cy="3622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9067288-C8D3-FF81-DBB6-14DDD8D8247E}"/>
                  </a:ext>
                </a:extLst>
              </p:cNvPr>
              <p:cNvSpPr txBox="1"/>
              <p:nvPr/>
            </p:nvSpPr>
            <p:spPr>
              <a:xfrm>
                <a:off x="6996447" y="5631774"/>
                <a:ext cx="30587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Detector with 5-meter radius will cover most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9067288-C8D3-FF81-DBB6-14DDD8D82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447" y="5631774"/>
                <a:ext cx="3058733" cy="646331"/>
              </a:xfrm>
              <a:prstGeom prst="rect">
                <a:avLst/>
              </a:prstGeom>
              <a:blipFill>
                <a:blip r:embed="rId4"/>
                <a:stretch>
                  <a:fillRect l="-179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36CCBF5-FE9C-011C-AB7C-E39C859B767D}"/>
              </a:ext>
            </a:extLst>
          </p:cNvPr>
          <p:cNvSpPr txBox="1"/>
          <p:nvPr/>
        </p:nvSpPr>
        <p:spPr>
          <a:xfrm>
            <a:off x="6014432" y="369673"/>
            <a:ext cx="479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I’m integrating z-axis from -150m to 150m</a:t>
            </a:r>
          </a:p>
        </p:txBody>
      </p:sp>
    </p:spTree>
    <p:extLst>
      <p:ext uri="{BB962C8B-B14F-4D97-AF65-F5344CB8AC3E}">
        <p14:creationId xmlns:p14="http://schemas.microsoft.com/office/powerpoint/2010/main" val="47279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6A92-ED11-1D9B-A71B-5145CAE1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053A4-9B43-D619-DE1F-D5CC1DCA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2"/>
            <a:ext cx="10515600" cy="864807"/>
          </a:xfrm>
        </p:spPr>
        <p:txBody>
          <a:bodyPr/>
          <a:lstStyle/>
          <a:p>
            <a:r>
              <a:rPr lang="en-US" altLang="zh-CN" dirty="0"/>
              <a:t>Total neutrino flux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A29A7-5159-0F99-AFCB-F1A6B9E2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E4E9FC6-D07C-6659-0A05-10853270A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035" y="1154964"/>
            <a:ext cx="5394971" cy="4014224"/>
          </a:xfrm>
          <a:prstGeom prst="rect">
            <a:avLst/>
          </a:prstGeom>
        </p:spPr>
      </p:pic>
      <p:sp>
        <p:nvSpPr>
          <p:cNvPr id="9" name="右大括号 8">
            <a:extLst>
              <a:ext uri="{FF2B5EF4-FFF2-40B4-BE49-F238E27FC236}">
                <a16:creationId xmlns:a16="http://schemas.microsoft.com/office/drawing/2014/main" id="{8F768A93-5A24-216C-6227-A99484EFC35A}"/>
              </a:ext>
            </a:extLst>
          </p:cNvPr>
          <p:cNvSpPr/>
          <p:nvPr/>
        </p:nvSpPr>
        <p:spPr>
          <a:xfrm rot="5400000">
            <a:off x="7196910" y="4690290"/>
            <a:ext cx="278435" cy="67936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353BA01-CB5A-779C-216F-88845E5E748D}"/>
              </a:ext>
            </a:extLst>
          </p:cNvPr>
          <p:cNvCxnSpPr>
            <a:cxnSpLocks/>
          </p:cNvCxnSpPr>
          <p:nvPr/>
        </p:nvCxnSpPr>
        <p:spPr>
          <a:xfrm flipH="1">
            <a:off x="7336127" y="5219337"/>
            <a:ext cx="1" cy="3622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3EF1758-640D-9181-268F-C705495264EB}"/>
                  </a:ext>
                </a:extLst>
              </p:cNvPr>
              <p:cNvSpPr txBox="1"/>
              <p:nvPr/>
            </p:nvSpPr>
            <p:spPr>
              <a:xfrm>
                <a:off x="6996447" y="5631774"/>
                <a:ext cx="30587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Detector with 5-meter radius will cover most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3EF1758-640D-9181-268F-C70549526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447" y="5631774"/>
                <a:ext cx="3058733" cy="646331"/>
              </a:xfrm>
              <a:prstGeom prst="rect">
                <a:avLst/>
              </a:prstGeom>
              <a:blipFill>
                <a:blip r:embed="rId3"/>
                <a:stretch>
                  <a:fillRect l="-179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CD60C771-D57B-8F21-31F0-0AEC92101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318" y="1825626"/>
                <a:ext cx="5167649" cy="198008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Cambria Math" panose="02040503050406030204" pitchFamily="18" charset="0"/>
                  </a:rPr>
                  <a:t>After consider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=1.8×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~1×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𝑦𝑒𝑎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CD60C771-D57B-8F21-31F0-0AEC92101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318" y="1825626"/>
                <a:ext cx="5167649" cy="1980082"/>
              </a:xfrm>
              <a:blipFill>
                <a:blip r:embed="rId4"/>
                <a:stretch>
                  <a:fillRect l="-1061" t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55C3757-D605-4C74-C03E-FC8841F24F92}"/>
              </a:ext>
            </a:extLst>
          </p:cNvPr>
          <p:cNvSpPr txBox="1"/>
          <p:nvPr/>
        </p:nvSpPr>
        <p:spPr>
          <a:xfrm>
            <a:off x="8800563" y="1784835"/>
            <a:ext cx="242981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3TeV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MuC</a:t>
            </a:r>
            <a:br>
              <a:rPr lang="en-US" dirty="0"/>
            </a:br>
            <a:r>
              <a:rPr lang="en-US" dirty="0">
                <a:solidFill>
                  <a:srgbClr val="FF9900"/>
                </a:solidFill>
              </a:rPr>
              <a:t>10TeV </a:t>
            </a:r>
            <a:r>
              <a:rPr lang="en-US" dirty="0" err="1">
                <a:solidFill>
                  <a:srgbClr val="FF9900"/>
                </a:solidFill>
              </a:rPr>
              <a:t>MuC</a:t>
            </a:r>
            <a:endParaRPr lang="en-US" dirty="0">
              <a:solidFill>
                <a:srgbClr val="FF99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E50AE1-5407-5371-4332-D2F5E7DFDDD3}"/>
              </a:ext>
            </a:extLst>
          </p:cNvPr>
          <p:cNvSpPr txBox="1"/>
          <p:nvPr/>
        </p:nvSpPr>
        <p:spPr>
          <a:xfrm>
            <a:off x="4734059" y="5633023"/>
            <a:ext cx="220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km away from IP:</a:t>
            </a:r>
          </a:p>
        </p:txBody>
      </p:sp>
    </p:spTree>
    <p:extLst>
      <p:ext uri="{BB962C8B-B14F-4D97-AF65-F5344CB8AC3E}">
        <p14:creationId xmlns:p14="http://schemas.microsoft.com/office/powerpoint/2010/main" val="355079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ADD4-87B0-45D2-786E-A623084A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A8E5F-4BA9-78B6-FED6-C517D00D5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80" y="265"/>
            <a:ext cx="4648200" cy="8197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Angular distribution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28968-23EE-6AC9-155A-CB67A512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C6C456-532B-E6A7-05DE-64421FE0082B}"/>
              </a:ext>
            </a:extLst>
          </p:cNvPr>
          <p:cNvSpPr txBox="1"/>
          <p:nvPr/>
        </p:nvSpPr>
        <p:spPr>
          <a:xfrm>
            <a:off x="7031865" y="136525"/>
            <a:ext cx="350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consider beam divergence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D5EBC6-F19B-B69B-F522-1D65C848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010" y="1112882"/>
            <a:ext cx="5619750" cy="4181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E48027-7968-3258-3677-51CF76413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41" y="1090344"/>
            <a:ext cx="5619750" cy="418147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DCEE9B2-FA16-1313-9F55-CDB1EBC2C3ED}"/>
              </a:ext>
            </a:extLst>
          </p:cNvPr>
          <p:cNvCxnSpPr>
            <a:cxnSpLocks/>
          </p:cNvCxnSpPr>
          <p:nvPr/>
        </p:nvCxnSpPr>
        <p:spPr>
          <a:xfrm flipH="1" flipV="1">
            <a:off x="875763" y="2009104"/>
            <a:ext cx="199623" cy="1841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DE2EFED-B66F-977B-4A91-B081DDAF09FE}"/>
                  </a:ext>
                </a:extLst>
              </p:cNvPr>
              <p:cNvSpPr txBox="1"/>
              <p:nvPr/>
            </p:nvSpPr>
            <p:spPr>
              <a:xfrm>
                <a:off x="875763" y="3805707"/>
                <a:ext cx="158410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2e-5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DE2EFED-B66F-977B-4A91-B081DDAF0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63" y="3805707"/>
                <a:ext cx="1584102" cy="390748"/>
              </a:xfrm>
              <a:prstGeom prst="rect">
                <a:avLst/>
              </a:prstGeom>
              <a:blipFill>
                <a:blip r:embed="rId4"/>
                <a:stretch>
                  <a:fillRect t="-7813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361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BD5CF-7CD1-FC01-0A2E-D42EC355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805" y="91783"/>
            <a:ext cx="3437587" cy="819731"/>
          </a:xfrm>
        </p:spPr>
        <p:txBody>
          <a:bodyPr/>
          <a:lstStyle/>
          <a:p>
            <a:r>
              <a:rPr lang="en-US" altLang="zh-CN"/>
              <a:t>Spectrum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31C67-FC7D-7067-556F-7795D5CB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526DC2B-F905-FDFD-511C-CA03E88AB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9" y="1459468"/>
            <a:ext cx="11874321" cy="4701913"/>
          </a:xfrm>
          <a:prstGeom prst="rect">
            <a:avLst/>
          </a:prstGeom>
        </p:spPr>
      </p:pic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2DCC3DB9-EC34-13C1-A5F2-E1A68548C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" y="1459468"/>
            <a:ext cx="6126051" cy="466746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167998-FDC1-01D3-A9FB-84EF71EA72EC}"/>
              </a:ext>
            </a:extLst>
          </p:cNvPr>
          <p:cNvSpPr txBox="1"/>
          <p:nvPr/>
        </p:nvSpPr>
        <p:spPr>
          <a:xfrm>
            <a:off x="850005" y="895167"/>
            <a:ext cx="350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consider beam divergence</a:t>
            </a:r>
          </a:p>
        </p:txBody>
      </p:sp>
    </p:spTree>
    <p:extLst>
      <p:ext uri="{BB962C8B-B14F-4D97-AF65-F5344CB8AC3E}">
        <p14:creationId xmlns:p14="http://schemas.microsoft.com/office/powerpoint/2010/main" val="2432471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3ED4E-FED1-AEE0-CB58-647E57AA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032"/>
            <a:ext cx="10515600" cy="1325563"/>
          </a:xfrm>
        </p:spPr>
        <p:txBody>
          <a:bodyPr/>
          <a:lstStyle/>
          <a:p>
            <a:r>
              <a:rPr lang="en-US" altLang="zh-CN" dirty="0"/>
              <a:t>No beam divergence, but chicane</a:t>
            </a:r>
            <a:endParaRPr 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BFCEBDD-7AE1-DBDD-3C2C-8F548E534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381595"/>
            <a:ext cx="5556138" cy="355101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471DB-0238-FB66-F865-FBB8BC76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F47A5A-A530-921B-CA4B-D52FDC6F6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433" y="1381596"/>
            <a:ext cx="5556138" cy="355101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572EF45-1384-7EC4-92C4-FF7C2626CB07}"/>
              </a:ext>
            </a:extLst>
          </p:cNvPr>
          <p:cNvSpPr txBox="1"/>
          <p:nvPr/>
        </p:nvSpPr>
        <p:spPr>
          <a:xfrm>
            <a:off x="811369" y="5293217"/>
            <a:ext cx="3625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Chicane: 2.5% has 0.5mrad; 2.5% has 1mrad angle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7CE41A-7FC5-886B-FC20-76034A774A0F}"/>
              </a:ext>
            </a:extLst>
          </p:cNvPr>
          <p:cNvSpPr txBox="1"/>
          <p:nvPr/>
        </p:nvSpPr>
        <p:spPr>
          <a:xfrm>
            <a:off x="6797898" y="5321313"/>
            <a:ext cx="3625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Chicane: uniformly distribution of angle from 0~1mrad angle</a:t>
            </a:r>
          </a:p>
        </p:txBody>
      </p:sp>
    </p:spTree>
    <p:extLst>
      <p:ext uri="{BB962C8B-B14F-4D97-AF65-F5344CB8AC3E}">
        <p14:creationId xmlns:p14="http://schemas.microsoft.com/office/powerpoint/2010/main" val="181177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形用户界面&#10;&#10;AI 生成的内容可能不正确。">
            <a:extLst>
              <a:ext uri="{FF2B5EF4-FFF2-40B4-BE49-F238E27FC236}">
                <a16:creationId xmlns:a16="http://schemas.microsoft.com/office/drawing/2014/main" id="{39486E26-CFCE-CEB0-4DFF-8D1B00CFD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2" y="385831"/>
            <a:ext cx="7233348" cy="4069264"/>
          </a:xfr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EBC21-030D-628B-AD55-D4B3C9FD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6BADC87-B3AD-3E61-EBDC-0012EBA5531A}"/>
                  </a:ext>
                </a:extLst>
              </p:cNvPr>
              <p:cNvSpPr txBox="1"/>
              <p:nvPr/>
            </p:nvSpPr>
            <p:spPr>
              <a:xfrm>
                <a:off x="7798158" y="1716744"/>
                <a:ext cx="2846232" cy="703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Gaussian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~2∗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6BADC87-B3AD-3E61-EBDC-0012EBA55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158" y="1716744"/>
                <a:ext cx="2846232" cy="703719"/>
              </a:xfrm>
              <a:prstGeom prst="rect">
                <a:avLst/>
              </a:prstGeom>
              <a:blipFill>
                <a:blip r:embed="rId3"/>
                <a:stretch>
                  <a:fillRect l="-1713" t="-5217" b="-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785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FD1D-FE02-15F7-5740-7090EC6E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28DC1-1E99-C667-1A11-0681796C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805" y="91783"/>
            <a:ext cx="10515600" cy="819731"/>
          </a:xfrm>
        </p:spPr>
        <p:txBody>
          <a:bodyPr/>
          <a:lstStyle/>
          <a:p>
            <a:r>
              <a:rPr lang="en-US" altLang="zh-CN"/>
              <a:t>Spectrum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BCB3A-8301-F9FA-226B-E0015D08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591EFAEA-BF87-5F67-EBB5-D128EFF0A8F2}"/>
              </a:ext>
            </a:extLst>
          </p:cNvPr>
          <p:cNvPicPr>
            <a:picLocks/>
          </p:cNvPicPr>
          <p:nvPr/>
        </p:nvPicPr>
        <p:blipFill>
          <a:blip r:embed="rId2"/>
          <a:srcRect l="-50" t="49139"/>
          <a:stretch>
            <a:fillRect/>
          </a:stretch>
        </p:blipFill>
        <p:spPr>
          <a:xfrm>
            <a:off x="143813" y="3233447"/>
            <a:ext cx="12902485" cy="3488028"/>
          </a:xfrm>
          <a:prstGeom prst="rect">
            <a:avLst/>
          </a:prstGeom>
        </p:spPr>
      </p:pic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393ADFBC-A4E3-AB38-F258-52B7D762FA9A}"/>
              </a:ext>
            </a:extLst>
          </p:cNvPr>
          <p:cNvPicPr>
            <a:picLocks/>
          </p:cNvPicPr>
          <p:nvPr/>
        </p:nvPicPr>
        <p:blipFill>
          <a:blip r:embed="rId2"/>
          <a:srcRect r="49893" b="50861"/>
          <a:stretch>
            <a:fillRect/>
          </a:stretch>
        </p:blipFill>
        <p:spPr>
          <a:xfrm>
            <a:off x="7540804" y="-69537"/>
            <a:ext cx="4507382" cy="3369972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53D5D615-DC4E-E361-8E21-C924B226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92" y="136525"/>
            <a:ext cx="2638345" cy="304998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7DE3C22-7DA8-06D5-C1EA-4DC85B71FA53}"/>
              </a:ext>
            </a:extLst>
          </p:cNvPr>
          <p:cNvSpPr txBox="1"/>
          <p:nvPr/>
        </p:nvSpPr>
        <p:spPr>
          <a:xfrm>
            <a:off x="3442542" y="501648"/>
            <a:ext cx="258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beam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4F80521-66EB-06BB-825C-E405EFE5964E}"/>
                  </a:ext>
                </a:extLst>
              </p:cNvPr>
              <p:cNvSpPr txBox="1"/>
              <p:nvPr/>
            </p:nvSpPr>
            <p:spPr>
              <a:xfrm>
                <a:off x="3442541" y="3673542"/>
                <a:ext cx="2589063" cy="668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With beam 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4F80521-66EB-06BB-825C-E405EFE59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541" y="3673542"/>
                <a:ext cx="2589063" cy="668260"/>
              </a:xfrm>
              <a:prstGeom prst="rect">
                <a:avLst/>
              </a:prstGeom>
              <a:blipFill>
                <a:blip r:embed="rId4"/>
                <a:stretch>
                  <a:fillRect l="-2123" t="-5505" b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A0235CC3-A0F1-5ADB-30F4-359F552071EC}"/>
              </a:ext>
            </a:extLst>
          </p:cNvPr>
          <p:cNvSpPr txBox="1"/>
          <p:nvPr/>
        </p:nvSpPr>
        <p:spPr>
          <a:xfrm>
            <a:off x="1829449" y="1209419"/>
            <a:ext cx="175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9900"/>
                </a:solidFill>
              </a:rPr>
              <a:t>10 TeV </a:t>
            </a:r>
            <a:r>
              <a:rPr lang="en-US" dirty="0" err="1">
                <a:solidFill>
                  <a:srgbClr val="FF9900"/>
                </a:solidFill>
              </a:rPr>
              <a:t>MuC</a:t>
            </a:r>
            <a:endParaRPr lang="en-US" dirty="0">
              <a:solidFill>
                <a:srgbClr val="FF9900"/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 TeV </a:t>
            </a:r>
            <a:r>
              <a:rPr lang="en-US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MuC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C6B0C-39D3-BB9E-FCC8-2EE01C53D744}"/>
              </a:ext>
            </a:extLst>
          </p:cNvPr>
          <p:cNvSpPr txBox="1"/>
          <p:nvPr/>
        </p:nvSpPr>
        <p:spPr>
          <a:xfrm>
            <a:off x="3670479" y="4730889"/>
            <a:ext cx="141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 TeV </a:t>
            </a:r>
            <a:r>
              <a:rPr lang="en-US" dirty="0" err="1">
                <a:solidFill>
                  <a:srgbClr val="FF0000"/>
                </a:solidFill>
              </a:rPr>
              <a:t>MuC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59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2764675-BB4D-EF42-A300-22FEBEA4D7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Total number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2764675-BB4D-EF42-A300-22FEBEA4D7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F353D8-CB23-8A33-ABBA-B2378AEA1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=1.8×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𝑏𝑢𝑛𝑐h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𝑡𝑢𝑟𝑛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∗3600=1.8×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𝑡𝑢𝑟𝑛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∗2.2×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∗3×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8.7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=3600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F353D8-CB23-8A33-ABBA-B2378AEA1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58C80-0566-BC7E-5F1C-A59CBE62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5358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81AF-9F30-9137-9E3F-55FB5FA7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C702A-33B9-0DA7-0ED0-07C0ED296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2"/>
            <a:ext cx="10515600" cy="864807"/>
          </a:xfrm>
        </p:spPr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26C9DD-EA94-88ED-E38B-BB62710B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98C91B-A61F-5194-E47F-3B98B15D7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271" y="1350846"/>
            <a:ext cx="9242213" cy="43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8578-6BBA-A04F-E6B7-3A6AC77A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27E3E-B18E-92F3-DD30-5DAB4109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2"/>
            <a:ext cx="10515600" cy="864807"/>
          </a:xfrm>
        </p:spPr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02D113-53C2-12E5-31EC-F3D7DC45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B14D70BE-3F12-2F63-DEC4-3677B1FC69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8905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decay at z=0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=0)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𝑑𝑧</m:t>
                    </m:r>
                  </m:oMath>
                </a14:m>
                <a:r>
                  <a:rPr lang="en-US" dirty="0"/>
                  <a:t>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2∗150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B14D70BE-3F12-2F63-DEC4-3677B1FC6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8905"/>
                <a:ext cx="10515600" cy="4351338"/>
              </a:xfrm>
              <a:blipFill>
                <a:blip r:embed="rId2"/>
                <a:stretch>
                  <a:fillRect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18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DC3C-EA67-AEDC-D694-1132DE94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D4E49-AEE9-1E22-5EB1-6365E3DB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2"/>
            <a:ext cx="10515600" cy="864807"/>
          </a:xfrm>
        </p:spPr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17857-0726-B6C4-9FE9-A0CFA245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E219-8C91-41EA-B415-E8E26B7A5CDA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E964E-F997-CFAB-4AFB-FDC641B40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5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等线 Light"/>
        <a:cs typeface=""/>
      </a:majorFont>
      <a:minorFont>
        <a:latin typeface="Times New Roman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20035</TotalTime>
  <Words>297</Words>
  <Application>Microsoft Office PowerPoint</Application>
  <PresentationFormat>宽屏</PresentationFormat>
  <Paragraphs>66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Arial</vt:lpstr>
      <vt:lpstr>Cambria Math</vt:lpstr>
      <vt:lpstr>Times New Roman</vt:lpstr>
      <vt:lpstr>Office 主题​​</vt:lpstr>
      <vt:lpstr>ν @ MuC</vt:lpstr>
      <vt:lpstr>MuC 10 TeV configuration</vt:lpstr>
      <vt:lpstr>PowerPoint 演示文稿</vt:lpstr>
      <vt:lpstr>(dN_ν)/dθ: ν angular distribution from a 5TeV μ decay at center (z=0)</vt:lpstr>
      <vt:lpstr>Comparing analytic and numerical result </vt:lpstr>
      <vt:lpstr>Compare with 2412.14115 </vt:lpstr>
      <vt:lpstr>Angular distribution</vt:lpstr>
      <vt:lpstr>Total neutrino flux</vt:lpstr>
      <vt:lpstr>Angular distribution</vt:lpstr>
      <vt:lpstr>Spectrum</vt:lpstr>
      <vt:lpstr>No beam divergence, but chicane</vt:lpstr>
      <vt:lpstr>PowerPoint 演示文稿</vt:lpstr>
      <vt:lpstr>Spectrum</vt:lpstr>
      <vt:lpstr>Total number of ν</vt:lpstr>
      <vt:lpstr>Note</vt:lpstr>
      <vt:lpstr>Note</vt:lpstr>
      <vt:lpstr>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Peiran Li</dc:creator>
  <cp:lastModifiedBy>Peiran Li</cp:lastModifiedBy>
  <cp:revision>220</cp:revision>
  <dcterms:created xsi:type="dcterms:W3CDTF">2024-08-05T12:22:18Z</dcterms:created>
  <dcterms:modified xsi:type="dcterms:W3CDTF">2026-04-06T19:59:54Z</dcterms:modified>
</cp:coreProperties>
</file>