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007" r:id="rId3"/>
    <p:sldId id="2008" r:id="rId4"/>
    <p:sldId id="2009" r:id="rId5"/>
    <p:sldId id="2011" r:id="rId6"/>
    <p:sldId id="2010" r:id="rId7"/>
    <p:sldId id="2014" r:id="rId8"/>
    <p:sldId id="2019" r:id="rId9"/>
    <p:sldId id="2023" r:id="rId10"/>
    <p:sldId id="2020" r:id="rId11"/>
    <p:sldId id="2021" r:id="rId12"/>
    <p:sldId id="2022" r:id="rId13"/>
    <p:sldId id="2017" r:id="rId14"/>
    <p:sldId id="2013" r:id="rId15"/>
    <p:sldId id="2012" r:id="rId16"/>
    <p:sldId id="2016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6" autoAdjust="0"/>
    <p:restoredTop sz="94660"/>
  </p:normalViewPr>
  <p:slideViewPr>
    <p:cSldViewPr snapToGrid="0">
      <p:cViewPr varScale="1">
        <p:scale>
          <a:sx n="85" d="100"/>
          <a:sy n="85" d="100"/>
        </p:scale>
        <p:origin x="2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2995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FD8D800F-5B5F-1D0E-9CAB-71AA0CA17A7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F3358C3-9CD4-8718-3C3C-0D3CDE80CD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3A271B-0158-48D8-849A-F2122D5124BD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F05C0FD-BC24-CA82-3A72-83A03E669B2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CE5B9BB-E948-AFBC-1081-CAADBF0232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1D0954-ED51-4064-89C6-6D4F2DF28E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45659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AD00B9-4766-4E66-A103-86969EE48BDF}" type="datetimeFigureOut">
              <a:rPr lang="zh-CN" altLang="en-US" smtClean="0"/>
              <a:t>2026/3/23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D7369-19C5-4AFC-8D89-C45239DC28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8153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22CE40-0680-FAD6-F4F3-85466B1A9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4F7C086-9BA1-8A8F-F6CF-B318E03776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0" name="日期占位符 9">
            <a:extLst>
              <a:ext uri="{FF2B5EF4-FFF2-40B4-BE49-F238E27FC236}">
                <a16:creationId xmlns:a16="http://schemas.microsoft.com/office/drawing/2014/main" id="{456064A4-8711-193B-A64F-3B4B12D2D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8/7/2025</a:t>
            </a:r>
            <a:endParaRPr lang="zh-CN" altLang="en-US" dirty="0"/>
          </a:p>
        </p:txBody>
      </p:sp>
      <p:sp>
        <p:nvSpPr>
          <p:cNvPr id="11" name="页脚占位符 10">
            <a:extLst>
              <a:ext uri="{FF2B5EF4-FFF2-40B4-BE49-F238E27FC236}">
                <a16:creationId xmlns:a16="http://schemas.microsoft.com/office/drawing/2014/main" id="{307FAC96-DB6F-C083-9648-B3DED88DE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Heavy QCD axion @ MuC                                  Peiran Li</a:t>
            </a:r>
            <a:endParaRPr lang="zh-CN" altLang="en-US"/>
          </a:p>
        </p:txBody>
      </p:sp>
      <p:sp>
        <p:nvSpPr>
          <p:cNvPr id="12" name="灯片编号占位符 11">
            <a:extLst>
              <a:ext uri="{FF2B5EF4-FFF2-40B4-BE49-F238E27FC236}">
                <a16:creationId xmlns:a16="http://schemas.microsoft.com/office/drawing/2014/main" id="{D3BB6F43-B331-E0EE-BE98-793EB8F8F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6F9FE219-8C91-41EA-B415-E8E26B7A5CDA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84353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2A1DD5-BFB8-579C-D6EF-45086F66A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1D1E06-DE18-91DF-3F5A-968EDF2796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8F6E8F-3FF0-8444-E639-6D9B497F1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5/19/2025</a:t>
            </a:r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CF79C9A-5F5A-B64D-C255-8962C7564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Heavy QCD axion @ MuC                                  Peiran Li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AFA706-A740-CEE7-CE59-5206536A0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6F9FE219-8C91-41EA-B415-E8E26B7A5CDA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96794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867F24-B4FF-A850-5CEE-03F31ED23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A200B49-73E2-9F24-6BD0-9517C5BE1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698312-B76E-68C8-E944-2116F54E2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5/19/2025</a:t>
            </a:r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153A38-C74A-615A-1EDC-6422EF4FD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Heavy QCD axion @ MuC                                  Peiran Li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F4FEA5D-06C1-9391-6F22-286E97122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4338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CBFA98-E2A6-5343-902A-520B90E77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8918EF-15D6-95F3-C1FB-4FF90CA4BC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D2FCB18-14FA-0D62-C8F1-53E8ED123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7A2B9A1-D725-FB6C-C239-F7779679D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5/19/2025</a:t>
            </a:r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6A76B1F-2CDC-A5C8-E5B8-2F4BE4894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Heavy QCD axion @ MuC                                  Peiran Li</a:t>
            </a:r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186FE-6D58-955E-59A3-86AEEAB71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1987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399D12-5C62-9DA5-D8D6-4C6483238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C73B84-2089-6D0C-CE15-528D416BC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E46DDFD-FBE7-85AA-AB3B-8FE370D84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B1B55CD-ACD4-91B8-78EC-2D81DDA0E3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422F6F8-6375-14A7-B332-21E64821FA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E7173A5-3DFC-C5BD-B57B-EA2B3FF55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5/19/2025</a:t>
            </a:r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B1E5E37-9043-58C8-8A3A-AD511D097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Heavy QCD axion @ MuC                                  Peiran Li</a:t>
            </a:r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7824D8B-31D5-F840-4152-DF6435F8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1065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E5D823-96C6-2D93-3A4B-D4378224C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1173BB-BC1C-28ED-B99E-2A48CCED3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5/19/2025</a:t>
            </a:r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ADA0BB7-CB08-3535-D9A6-99E63A935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Heavy QCD axion @ MuC                                  Peiran Li</a:t>
            </a:r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97D5CE6-B1C4-B86D-7520-F6CE18F9E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1972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2EEF9E-4ABB-2381-C1E5-555C334C5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5/19/2025</a:t>
            </a:r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5052224-0DAD-38D1-1DDE-1395AAA5C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Heavy QCD axion @ MuC                                  Peiran Li</a:t>
            </a:r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0CE32EE-4FA6-B212-F46E-ABDCCF9B6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3457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A3F7ED-5610-4EFB-3269-53ABEF452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A23DA42-4CDD-8DE7-E682-E0970AFBE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C97D384-DC63-AD12-8D9F-39DA7D02A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723C942-1EF6-6EE6-F3F9-4B958DE43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5/19/2025</a:t>
            </a:r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6F79FF7-0BCD-4066-0698-36D0C65C9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Heavy QCD axion @ MuC                                  Peiran Li</a:t>
            </a:r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D8389C-7490-FEE5-46A3-F2F9636D6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6934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20E2C8-0492-443F-6431-827C2A719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4A88E4C-7458-2674-A3B3-E494455C5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6D77E2-D76B-BD52-AA64-0F5FED8BC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D610B00-0606-6B46-7177-64AC5E0D6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5/19/2025</a:t>
            </a:r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163635B-72EF-7DF4-1417-241CDB18C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Heavy QCD axion @ MuC                                  Peiran Li</a:t>
            </a:r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A19E375-1746-968E-3DC1-0D49EECF9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2786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0DA3F6-C279-1CE7-BC1F-FBD5C61A7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46356F2-AA74-5971-7207-5931BA457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5930F1-FAA9-4D44-658C-3CC469D53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5/19/2025</a:t>
            </a:r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3B5E14-7346-AE63-49E7-09D83963D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Heavy QCD axion @ MuC                                  Peiran Li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789998-6EE8-3F63-99FC-3A6F74B92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2414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2534207-02EC-3BCF-0AE5-12B91CBD2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116BA4E-8478-14EF-502F-9062A5CFA4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FF2013E-0A7F-F7D8-3B3B-DE845D748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5/19/2025</a:t>
            </a:r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421D8B-B3D3-841C-839E-2DB7E5A54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Heavy QCD axion @ MuC                                  Peiran Li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854B93-2592-32C5-89CE-FCF0B8D7E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987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5E17CD4-80D9-B716-F37C-AA775524E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2A91A15-439B-17A9-1142-E5054C5FF0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749317-3698-1C6C-3E95-E8C3CAF9F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5/19/2025</a:t>
            </a:r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29CE48-5CC5-F88B-D448-DDEA79C50C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Heavy QCD axion @ MuC                                  Peiran Li</a:t>
            </a: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E6FCF3-8752-75A6-507A-4EC0B690C4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9FE219-8C91-41EA-B415-E8E26B7A5CD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2944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arxiv.org/abs/2412.14115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标题 1">
                <a:extLst>
                  <a:ext uri="{FF2B5EF4-FFF2-40B4-BE49-F238E27FC236}">
                    <a16:creationId xmlns:a16="http://schemas.microsoft.com/office/drawing/2014/main" id="{88EBFAE4-1632-2B16-30A6-DDDCDB72CF4F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2077895" y="588953"/>
                <a:ext cx="8036210" cy="1322439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𝜈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@ </a:t>
                </a:r>
                <a:r>
                  <a:rPr lang="en-US" altLang="zh-CN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MuC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标题 1">
                <a:extLst>
                  <a:ext uri="{FF2B5EF4-FFF2-40B4-BE49-F238E27FC236}">
                    <a16:creationId xmlns:a16="http://schemas.microsoft.com/office/drawing/2014/main" id="{88EBFAE4-1632-2B16-30A6-DDDCDB72CF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2077895" y="588953"/>
                <a:ext cx="8036210" cy="1322439"/>
              </a:xfrm>
              <a:blipFill>
                <a:blip r:embed="rId2"/>
                <a:stretch>
                  <a:fillRect b="-313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AB3A62A-0C0A-6E13-7D7F-C7F0C380E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t>1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70547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22F850-5E4B-380E-AA0D-B59FA777E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912"/>
            <a:ext cx="10515600" cy="948520"/>
          </a:xfrm>
        </p:spPr>
        <p:txBody>
          <a:bodyPr/>
          <a:lstStyle/>
          <a:p>
            <a:r>
              <a:rPr lang="en-US" dirty="0" err="1"/>
              <a:t>MuC</a:t>
            </a:r>
            <a:r>
              <a:rPr lang="en-US" dirty="0"/>
              <a:t> 10 TeV configuration</a:t>
            </a:r>
          </a:p>
        </p:txBody>
      </p:sp>
      <p:pic>
        <p:nvPicPr>
          <p:cNvPr id="8" name="内容占位符 7" descr="图示&#10;&#10;AI 生成的内容可能不正确。">
            <a:extLst>
              <a:ext uri="{FF2B5EF4-FFF2-40B4-BE49-F238E27FC236}">
                <a16:creationId xmlns:a16="http://schemas.microsoft.com/office/drawing/2014/main" id="{6FD521D3-4454-CD51-924E-0EB74DA6B7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017432"/>
            <a:ext cx="5008808" cy="2474814"/>
          </a:xfrm>
        </p:spPr>
      </p:pic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E68BE76-6363-0EAF-9FB9-04F939BFD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2</a:t>
            </a:fld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D3280163-E1FA-4786-5EFC-BA9700CABA19}"/>
                  </a:ext>
                </a:extLst>
              </p:cNvPr>
              <p:cNvSpPr txBox="1"/>
              <p:nvPr/>
            </p:nvSpPr>
            <p:spPr>
              <a:xfrm>
                <a:off x="5917841" y="1429554"/>
                <a:ext cx="22280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∈(−150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,150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D3280163-E1FA-4786-5EFC-BA9700CAB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841" y="1429554"/>
                <a:ext cx="2228045" cy="369332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内容占位符 7" descr="图示&#10;&#10;AI 生成的内容可能不正确。">
            <a:extLst>
              <a:ext uri="{FF2B5EF4-FFF2-40B4-BE49-F238E27FC236}">
                <a16:creationId xmlns:a16="http://schemas.microsoft.com/office/drawing/2014/main" id="{DEDE83B9-DFF8-10D8-5EFE-236FC6AE44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7873" y="3825025"/>
            <a:ext cx="5008808" cy="2474814"/>
          </a:xfrm>
          <a:prstGeom prst="rect">
            <a:avLst/>
          </a:prstGeom>
        </p:spPr>
      </p:pic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869F1AF-C239-399B-3F7A-DA8FCCE0491A}"/>
              </a:ext>
            </a:extLst>
          </p:cNvPr>
          <p:cNvCxnSpPr/>
          <p:nvPr/>
        </p:nvCxnSpPr>
        <p:spPr>
          <a:xfrm>
            <a:off x="4477020" y="3583694"/>
            <a:ext cx="0" cy="3110248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CD336267-B20D-C843-F2FF-898A75EED638}"/>
              </a:ext>
            </a:extLst>
          </p:cNvPr>
          <p:cNvGrpSpPr/>
          <p:nvPr/>
        </p:nvGrpSpPr>
        <p:grpSpPr>
          <a:xfrm>
            <a:off x="7235245" y="4174196"/>
            <a:ext cx="643943" cy="367048"/>
            <a:chOff x="6265572" y="4211390"/>
            <a:chExt cx="643943" cy="367048"/>
          </a:xfrm>
        </p:grpSpPr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2A96C950-B9EB-B622-9944-878867C57FED}"/>
                </a:ext>
              </a:extLst>
            </p:cNvPr>
            <p:cNvCxnSpPr/>
            <p:nvPr/>
          </p:nvCxnSpPr>
          <p:spPr>
            <a:xfrm flipH="1" flipV="1">
              <a:off x="6265572" y="4256466"/>
              <a:ext cx="643943" cy="212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BD0C4ABA-EC93-44C0-9F44-4413DFA4C5EC}"/>
                </a:ext>
              </a:extLst>
            </p:cNvPr>
            <p:cNvCxnSpPr/>
            <p:nvPr/>
          </p:nvCxnSpPr>
          <p:spPr>
            <a:xfrm flipH="1" flipV="1">
              <a:off x="6497392" y="4211390"/>
              <a:ext cx="412123" cy="2575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7F19BB8F-FBD9-AB77-396D-D30299F47827}"/>
                </a:ext>
              </a:extLst>
            </p:cNvPr>
            <p:cNvCxnSpPr/>
            <p:nvPr/>
          </p:nvCxnSpPr>
          <p:spPr>
            <a:xfrm flipH="1">
              <a:off x="6329966" y="4468968"/>
              <a:ext cx="579549" cy="109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9C90036-44A4-D0C8-48D9-06A289E7C1DB}"/>
              </a:ext>
            </a:extLst>
          </p:cNvPr>
          <p:cNvCxnSpPr/>
          <p:nvPr/>
        </p:nvCxnSpPr>
        <p:spPr>
          <a:xfrm>
            <a:off x="6816681" y="4422119"/>
            <a:ext cx="281403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55AC3F5-1C1E-F005-1F0E-0108E6617B80}"/>
                  </a:ext>
                </a:extLst>
              </p:cNvPr>
              <p:cNvSpPr txBox="1"/>
              <p:nvPr/>
            </p:nvSpPr>
            <p:spPr>
              <a:xfrm>
                <a:off x="9173515" y="3957803"/>
                <a:ext cx="4572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E55AC3F5-1C1E-F005-1F0E-0108E6617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3515" y="3957803"/>
                <a:ext cx="457200" cy="369332"/>
              </a:xfrm>
              <a:prstGeom prst="rect">
                <a:avLst/>
              </a:prstGeom>
              <a:blipFill>
                <a:blip r:embed="rId4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A50853C-EC1F-5432-3242-0E4BEF950946}"/>
              </a:ext>
            </a:extLst>
          </p:cNvPr>
          <p:cNvCxnSpPr>
            <a:cxnSpLocks/>
          </p:cNvCxnSpPr>
          <p:nvPr/>
        </p:nvCxnSpPr>
        <p:spPr>
          <a:xfrm flipH="1">
            <a:off x="9035067" y="4345315"/>
            <a:ext cx="457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椭圆 2">
            <a:extLst>
              <a:ext uri="{FF2B5EF4-FFF2-40B4-BE49-F238E27FC236}">
                <a16:creationId xmlns:a16="http://schemas.microsoft.com/office/drawing/2014/main" id="{FC6BBB8E-1F70-EC6F-3C68-4517338FBE13}"/>
              </a:ext>
            </a:extLst>
          </p:cNvPr>
          <p:cNvSpPr/>
          <p:nvPr/>
        </p:nvSpPr>
        <p:spPr>
          <a:xfrm>
            <a:off x="8893399" y="5266632"/>
            <a:ext cx="1474631" cy="1454843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84D11B9-45C1-3F21-2ADE-C4F1C0B38DAB}"/>
              </a:ext>
            </a:extLst>
          </p:cNvPr>
          <p:cNvSpPr/>
          <p:nvPr/>
        </p:nvSpPr>
        <p:spPr>
          <a:xfrm>
            <a:off x="8205586" y="5105665"/>
            <a:ext cx="357656" cy="3458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E9C004A-A73E-68BB-CD9E-008CC57DBF53}"/>
                  </a:ext>
                </a:extLst>
              </p:cNvPr>
              <p:cNvSpPr txBox="1"/>
              <p:nvPr/>
            </p:nvSpPr>
            <p:spPr>
              <a:xfrm>
                <a:off x="7564728" y="2536000"/>
                <a:ext cx="3237427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ℓ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E9C004A-A73E-68BB-CD9E-008CC57DB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4728" y="2536000"/>
                <a:ext cx="3237427" cy="391646"/>
              </a:xfrm>
              <a:prstGeom prst="rect">
                <a:avLst/>
              </a:prstGeom>
              <a:blipFill>
                <a:blip r:embed="rId5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C7783E09-9E29-69BB-A2C5-B986AD3B39BB}"/>
              </a:ext>
            </a:extLst>
          </p:cNvPr>
          <p:cNvCxnSpPr/>
          <p:nvPr/>
        </p:nvCxnSpPr>
        <p:spPr>
          <a:xfrm flipH="1">
            <a:off x="11098904" y="3825025"/>
            <a:ext cx="798490" cy="1094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BC07F10-00B9-1696-926D-7AC7C3EEE57F}"/>
              </a:ext>
            </a:extLst>
          </p:cNvPr>
          <p:cNvCxnSpPr/>
          <p:nvPr/>
        </p:nvCxnSpPr>
        <p:spPr>
          <a:xfrm flipH="1" flipV="1">
            <a:off x="10384127" y="3825025"/>
            <a:ext cx="714777" cy="1094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5463C6D-1A7B-BC04-AE1C-1AFD7955A49A}"/>
              </a:ext>
            </a:extLst>
          </p:cNvPr>
          <p:cNvCxnSpPr/>
          <p:nvPr/>
        </p:nvCxnSpPr>
        <p:spPr>
          <a:xfrm>
            <a:off x="11098904" y="3934496"/>
            <a:ext cx="0" cy="6632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E3D6CBD-92CE-3E9C-8BF5-C6459A7062F9}"/>
              </a:ext>
            </a:extLst>
          </p:cNvPr>
          <p:cNvCxnSpPr/>
          <p:nvPr/>
        </p:nvCxnSpPr>
        <p:spPr>
          <a:xfrm>
            <a:off x="10490377" y="4597755"/>
            <a:ext cx="12170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4F9B1773-7D90-9FE7-1FC8-972009EF9783}"/>
              </a:ext>
            </a:extLst>
          </p:cNvPr>
          <p:cNvCxnSpPr>
            <a:cxnSpLocks/>
          </p:cNvCxnSpPr>
          <p:nvPr/>
        </p:nvCxnSpPr>
        <p:spPr>
          <a:xfrm flipH="1">
            <a:off x="8582968" y="5262934"/>
            <a:ext cx="10477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DEA8FD62-3A99-C117-3548-BCD20FB3C0F3}"/>
              </a:ext>
            </a:extLst>
          </p:cNvPr>
          <p:cNvSpPr txBox="1"/>
          <p:nvPr/>
        </p:nvSpPr>
        <p:spPr>
          <a:xfrm>
            <a:off x="9463560" y="4924229"/>
            <a:ext cx="372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61226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BE37E1-81FD-A1A5-90C6-81C5A6EB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35922" y="6460677"/>
            <a:ext cx="2743200" cy="365125"/>
          </a:xfrm>
        </p:spPr>
        <p:txBody>
          <a:bodyPr/>
          <a:lstStyle/>
          <a:p>
            <a:fld id="{6F9FE219-8C91-41EA-B415-E8E26B7A5CDA}" type="slidenum">
              <a:rPr lang="zh-CN" altLang="en-US" smtClean="0"/>
              <a:pPr/>
              <a:t>3</a:t>
            </a:fld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E637A9FC-5CF0-C4D1-8709-EC0B5F94BC47}"/>
                  </a:ext>
                </a:extLst>
              </p:cNvPr>
              <p:cNvSpPr txBox="1"/>
              <p:nvPr/>
            </p:nvSpPr>
            <p:spPr>
              <a:xfrm>
                <a:off x="3902298" y="122349"/>
                <a:ext cx="2015544" cy="4277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:</m:t>
                      </m:r>
                      <m:rad>
                        <m:radPr>
                          <m:degHide m:val="on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E637A9FC-5CF0-C4D1-8709-EC0B5F94B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2298" y="122349"/>
                <a:ext cx="2015544" cy="427746"/>
              </a:xfrm>
              <a:prstGeom prst="rect">
                <a:avLst/>
              </a:prstGeom>
              <a:blipFill>
                <a:blip r:embed="rId2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图片 11" descr="图表, 直方图&#10;&#10;AI 生成的内容可能不正确。">
            <a:extLst>
              <a:ext uri="{FF2B5EF4-FFF2-40B4-BE49-F238E27FC236}">
                <a16:creationId xmlns:a16="http://schemas.microsoft.com/office/drawing/2014/main" id="{37F73BE9-2827-2830-481B-0E5870C05A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18" y="594713"/>
            <a:ext cx="11293712" cy="6250409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ECDADAA1-8D73-CF6E-C396-BA38DCD4B0DE}"/>
              </a:ext>
            </a:extLst>
          </p:cNvPr>
          <p:cNvSpPr txBox="1"/>
          <p:nvPr/>
        </p:nvSpPr>
        <p:spPr>
          <a:xfrm>
            <a:off x="9858778" y="12878"/>
            <a:ext cx="2260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Numerical simulation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6A57D9B-D62E-F749-4F36-43E80BDE90B9}"/>
              </a:ext>
            </a:extLst>
          </p:cNvPr>
          <p:cNvSpPr txBox="1"/>
          <p:nvPr/>
        </p:nvSpPr>
        <p:spPr>
          <a:xfrm>
            <a:off x="225379" y="12878"/>
            <a:ext cx="31939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z: longitudinal distance from IP; assume muon decay at IP</a:t>
            </a:r>
          </a:p>
        </p:txBody>
      </p:sp>
    </p:spTree>
    <p:extLst>
      <p:ext uri="{BB962C8B-B14F-4D97-AF65-F5344CB8AC3E}">
        <p14:creationId xmlns:p14="http://schemas.microsoft.com/office/powerpoint/2010/main" val="217708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91264-60F1-B499-8C1A-9DC638FDC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标题 1">
                <a:extLst>
                  <a:ext uri="{FF2B5EF4-FFF2-40B4-BE49-F238E27FC236}">
                    <a16:creationId xmlns:a16="http://schemas.microsoft.com/office/drawing/2014/main" id="{CB9F4753-8137-1B8A-BC02-499DE87041A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10064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𝜈</m:t>
                            </m:r>
                          </m:sub>
                        </m:sSub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den>
                    </m:f>
                  </m:oMath>
                </a14:m>
                <a:r>
                  <a:rPr lang="en-US" sz="2800" dirty="0"/>
                  <a:t>: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r>
                  <a:rPr lang="en-US" sz="2800" dirty="0"/>
                  <a:t> angular distribution from a 5TeV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800" dirty="0"/>
                  <a:t> decay at center (z=0)</a:t>
                </a:r>
              </a:p>
            </p:txBody>
          </p:sp>
        </mc:Choice>
        <mc:Fallback xmlns="">
          <p:sp>
            <p:nvSpPr>
              <p:cNvPr id="2" name="标题 1">
                <a:extLst>
                  <a:ext uri="{FF2B5EF4-FFF2-40B4-BE49-F238E27FC236}">
                    <a16:creationId xmlns:a16="http://schemas.microsoft.com/office/drawing/2014/main" id="{CB9F4753-8137-1B8A-BC02-499DE8704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10064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39B6C0-5A4C-2294-A2CC-BD20D2B8F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4</a:t>
            </a:fld>
            <a:endParaRPr lang="zh-CN" altLang="en-US" dirty="0"/>
          </a:p>
        </p:txBody>
      </p:sp>
      <p:pic>
        <p:nvPicPr>
          <p:cNvPr id="12" name="图片 11" descr="图表, 折线图&#10;&#10;AI 生成的内容可能不正确。">
            <a:extLst>
              <a:ext uri="{FF2B5EF4-FFF2-40B4-BE49-F238E27FC236}">
                <a16:creationId xmlns:a16="http://schemas.microsoft.com/office/drawing/2014/main" id="{42C1626C-9EBD-C204-8821-2BF2F6A6BE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785" y="1290564"/>
            <a:ext cx="7955296" cy="5065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074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7C7F7-3274-FF55-5F56-DF3BE58C2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804933-94CB-B29A-A8F1-E43B1A1DF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5</a:t>
            </a:fld>
            <a:endParaRPr lang="zh-CN" altLang="en-US" dirty="0"/>
          </a:p>
        </p:txBody>
      </p:sp>
      <p:pic>
        <p:nvPicPr>
          <p:cNvPr id="5" name="图片 4" descr="图表, 折线图&#10;&#10;AI 生成的内容可能不正确。">
            <a:extLst>
              <a:ext uri="{FF2B5EF4-FFF2-40B4-BE49-F238E27FC236}">
                <a16:creationId xmlns:a16="http://schemas.microsoft.com/office/drawing/2014/main" id="{7C0A67C2-2F8B-ADC5-4F95-192E06AB73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6462" y="-40369"/>
            <a:ext cx="6034513" cy="3842667"/>
          </a:xfrm>
          <a:prstGeom prst="rect">
            <a:avLst/>
          </a:prstGeom>
        </p:spPr>
      </p:pic>
      <p:pic>
        <p:nvPicPr>
          <p:cNvPr id="7" name="图片 6" descr="图表, 直方图&#10;&#10;AI 生成的内容可能不正确。">
            <a:extLst>
              <a:ext uri="{FF2B5EF4-FFF2-40B4-BE49-F238E27FC236}">
                <a16:creationId xmlns:a16="http://schemas.microsoft.com/office/drawing/2014/main" id="{C75EA5FA-CF1A-EC99-7EA5-E86D8C97FF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83" t="50033" r="33003" b="691"/>
          <a:stretch>
            <a:fillRect/>
          </a:stretch>
        </p:blipFill>
        <p:spPr>
          <a:xfrm>
            <a:off x="6056170" y="3608219"/>
            <a:ext cx="4440432" cy="3938342"/>
          </a:xfrm>
          <a:prstGeom prst="rect">
            <a:avLst/>
          </a:prstGeom>
        </p:spPr>
      </p:pic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9F646BE-0604-F304-A40A-CE76565A5ABD}"/>
              </a:ext>
            </a:extLst>
          </p:cNvPr>
          <p:cNvCxnSpPr>
            <a:cxnSpLocks/>
          </p:cNvCxnSpPr>
          <p:nvPr/>
        </p:nvCxnSpPr>
        <p:spPr>
          <a:xfrm>
            <a:off x="9940187" y="333444"/>
            <a:ext cx="0" cy="58113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标题 1">
            <a:extLst>
              <a:ext uri="{FF2B5EF4-FFF2-40B4-BE49-F238E27FC236}">
                <a16:creationId xmlns:a16="http://schemas.microsoft.com/office/drawing/2014/main" id="{225E8A2B-C4AE-C8DD-E50E-430046BF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577" y="492427"/>
            <a:ext cx="3456904" cy="864807"/>
          </a:xfrm>
        </p:spPr>
        <p:txBody>
          <a:bodyPr>
            <a:normAutofit fontScale="90000"/>
          </a:bodyPr>
          <a:lstStyle/>
          <a:p>
            <a:r>
              <a:rPr lang="en-US" sz="2400" dirty="0"/>
              <a:t>Comparing analytic and numerical result</a:t>
            </a:r>
            <a:r>
              <a:rPr lang="en-US" dirty="0"/>
              <a:t> 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B26BDD-D0E3-525A-7426-461F45F69E40}"/>
              </a:ext>
            </a:extLst>
          </p:cNvPr>
          <p:cNvSpPr txBox="1"/>
          <p:nvPr/>
        </p:nvSpPr>
        <p:spPr>
          <a:xfrm>
            <a:off x="4434726" y="1751526"/>
            <a:ext cx="1191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Analytic: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94104F4-2520-2F62-F5C5-06660E7DF028}"/>
              </a:ext>
            </a:extLst>
          </p:cNvPr>
          <p:cNvSpPr txBox="1"/>
          <p:nvPr/>
        </p:nvSpPr>
        <p:spPr>
          <a:xfrm>
            <a:off x="3876542" y="5392724"/>
            <a:ext cx="2307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Numerical simulation:</a:t>
            </a:r>
          </a:p>
        </p:txBody>
      </p:sp>
    </p:spTree>
    <p:extLst>
      <p:ext uri="{BB962C8B-B14F-4D97-AF65-F5344CB8AC3E}">
        <p14:creationId xmlns:p14="http://schemas.microsoft.com/office/powerpoint/2010/main" val="994629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2B2A5-DB04-5242-8AC6-CE5255C8E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1DCCA5-90C6-C3B2-62FA-C6BEA5C6E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032"/>
            <a:ext cx="10515600" cy="864807"/>
          </a:xfrm>
        </p:spPr>
        <p:txBody>
          <a:bodyPr/>
          <a:lstStyle/>
          <a:p>
            <a:r>
              <a:rPr lang="en-US" dirty="0"/>
              <a:t>Compare with </a:t>
            </a:r>
            <a:r>
              <a:rPr lang="en-US" dirty="0">
                <a:hlinkClick r:id="rId2"/>
              </a:rPr>
              <a:t>2412.14115</a:t>
            </a:r>
            <a:r>
              <a:rPr lang="en-US" dirty="0"/>
              <a:t> </a:t>
            </a:r>
          </a:p>
        </p:txBody>
      </p:sp>
      <p:pic>
        <p:nvPicPr>
          <p:cNvPr id="5" name="内容占位符 4" descr="图表, 折线图&#10;&#10;AI 生成的内容可能不正确。">
            <a:extLst>
              <a:ext uri="{FF2B5EF4-FFF2-40B4-BE49-F238E27FC236}">
                <a16:creationId xmlns:a16="http://schemas.microsoft.com/office/drawing/2014/main" id="{532E8D21-3DE1-2C54-5835-08B1C9AC3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9345" y="1295400"/>
            <a:ext cx="6182609" cy="3901440"/>
          </a:xfrm>
        </p:spPr>
      </p:pic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54DAAB-9571-6C3A-4AC5-0F572B8F1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6</a:t>
            </a:fld>
            <a:endParaRPr lang="zh-CN" altLang="en-US" dirty="0"/>
          </a:p>
        </p:txBody>
      </p:sp>
      <p:pic>
        <p:nvPicPr>
          <p:cNvPr id="8" name="图片 7" descr="图表, 直方图&#10;&#10;AI 生成的内容可能不正确。">
            <a:extLst>
              <a:ext uri="{FF2B5EF4-FFF2-40B4-BE49-F238E27FC236}">
                <a16:creationId xmlns:a16="http://schemas.microsoft.com/office/drawing/2014/main" id="{129CE460-BCB7-A3FF-E7FB-C0D373EF20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12" y="1295400"/>
            <a:ext cx="5585409" cy="3977640"/>
          </a:xfrm>
          <a:prstGeom prst="rect">
            <a:avLst/>
          </a:prstGeom>
        </p:spPr>
      </p:pic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7E41A07D-2F5D-DB9C-2E7A-F3CDA5D3B119}"/>
              </a:ext>
            </a:extLst>
          </p:cNvPr>
          <p:cNvCxnSpPr>
            <a:cxnSpLocks/>
          </p:cNvCxnSpPr>
          <p:nvPr/>
        </p:nvCxnSpPr>
        <p:spPr>
          <a:xfrm flipH="1" flipV="1">
            <a:off x="1255690" y="2099256"/>
            <a:ext cx="1184856" cy="1329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F93BBA6-875F-FF93-5F1F-853C084345B2}"/>
                  </a:ext>
                </a:extLst>
              </p:cNvPr>
              <p:cNvSpPr txBox="1"/>
              <p:nvPr/>
            </p:nvSpPr>
            <p:spPr>
              <a:xfrm>
                <a:off x="2369712" y="3284220"/>
                <a:ext cx="9530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F93BBA6-875F-FF93-5F1F-853C08434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9712" y="3284220"/>
                <a:ext cx="95303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02030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B39FA-1ADA-D5E6-C6FC-5E77CEB3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2E986F-245E-D572-2326-5BACB853B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032"/>
            <a:ext cx="10515600" cy="864807"/>
          </a:xfrm>
        </p:spPr>
        <p:txBody>
          <a:bodyPr/>
          <a:lstStyle/>
          <a:p>
            <a:r>
              <a:rPr lang="en-US" altLang="zh-CN" dirty="0"/>
              <a:t>Angular distribution</a:t>
            </a:r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032243-1AB7-593C-0F1A-3D89A1330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7</a:t>
            </a:fld>
            <a:endParaRPr lang="zh-CN" altLang="en-US" dirty="0"/>
          </a:p>
        </p:txBody>
      </p:sp>
      <p:pic>
        <p:nvPicPr>
          <p:cNvPr id="5" name="内容占位符 4" descr="图表, 折线图&#10;&#10;AI 生成的内容可能不正确。">
            <a:extLst>
              <a:ext uri="{FF2B5EF4-FFF2-40B4-BE49-F238E27FC236}">
                <a16:creationId xmlns:a16="http://schemas.microsoft.com/office/drawing/2014/main" id="{994348C3-848E-5318-D628-B973EA8EC0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47" y="1154964"/>
            <a:ext cx="5394971" cy="4014224"/>
          </a:xfrm>
        </p:spPr>
      </p:pic>
      <p:pic>
        <p:nvPicPr>
          <p:cNvPr id="8" name="图片 7" descr="图表, 折线图&#10;&#10;AI 生成的内容可能不正确。">
            <a:extLst>
              <a:ext uri="{FF2B5EF4-FFF2-40B4-BE49-F238E27FC236}">
                <a16:creationId xmlns:a16="http://schemas.microsoft.com/office/drawing/2014/main" id="{7A3A0B14-3A93-78AD-CFCC-9E14793562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114" y="1154964"/>
            <a:ext cx="5394971" cy="4014224"/>
          </a:xfrm>
          <a:prstGeom prst="rect">
            <a:avLst/>
          </a:prstGeom>
        </p:spPr>
      </p:pic>
      <p:sp>
        <p:nvSpPr>
          <p:cNvPr id="9" name="右大括号 8">
            <a:extLst>
              <a:ext uri="{FF2B5EF4-FFF2-40B4-BE49-F238E27FC236}">
                <a16:creationId xmlns:a16="http://schemas.microsoft.com/office/drawing/2014/main" id="{89E01BAB-0B9E-77FE-90B4-F32BA7BD3C49}"/>
              </a:ext>
            </a:extLst>
          </p:cNvPr>
          <p:cNvSpPr/>
          <p:nvPr/>
        </p:nvSpPr>
        <p:spPr>
          <a:xfrm rot="5400000">
            <a:off x="7196910" y="4690290"/>
            <a:ext cx="278435" cy="67936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E60B5A5-2B25-EBA8-B421-4FEC15A9C29C}"/>
              </a:ext>
            </a:extLst>
          </p:cNvPr>
          <p:cNvCxnSpPr>
            <a:cxnSpLocks/>
          </p:cNvCxnSpPr>
          <p:nvPr/>
        </p:nvCxnSpPr>
        <p:spPr>
          <a:xfrm flipH="1">
            <a:off x="7336127" y="5219337"/>
            <a:ext cx="1" cy="3622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D9067288-C8D3-FF81-DBB6-14DDD8D8247E}"/>
                  </a:ext>
                </a:extLst>
              </p:cNvPr>
              <p:cNvSpPr txBox="1"/>
              <p:nvPr/>
            </p:nvSpPr>
            <p:spPr>
              <a:xfrm>
                <a:off x="6996447" y="5631774"/>
                <a:ext cx="305873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Detector with 5-meter radius will cover most of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D9067288-C8D3-FF81-DBB6-14DDD8D824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6447" y="5631774"/>
                <a:ext cx="3058733" cy="646331"/>
              </a:xfrm>
              <a:prstGeom prst="rect">
                <a:avLst/>
              </a:prstGeom>
              <a:blipFill>
                <a:blip r:embed="rId4"/>
                <a:stretch>
                  <a:fillRect l="-1796" t="-5660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本框 2">
            <a:extLst>
              <a:ext uri="{FF2B5EF4-FFF2-40B4-BE49-F238E27FC236}">
                <a16:creationId xmlns:a16="http://schemas.microsoft.com/office/drawing/2014/main" id="{A36CCBF5-FE9C-011C-AB7C-E39C859B767D}"/>
              </a:ext>
            </a:extLst>
          </p:cNvPr>
          <p:cNvSpPr txBox="1"/>
          <p:nvPr/>
        </p:nvSpPr>
        <p:spPr>
          <a:xfrm>
            <a:off x="6014432" y="369673"/>
            <a:ext cx="4797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 I’m integrating z-axis from -150m to 150m</a:t>
            </a:r>
          </a:p>
        </p:txBody>
      </p:sp>
    </p:spTree>
    <p:extLst>
      <p:ext uri="{BB962C8B-B14F-4D97-AF65-F5344CB8AC3E}">
        <p14:creationId xmlns:p14="http://schemas.microsoft.com/office/powerpoint/2010/main" val="472790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76A92-ED11-1D9B-A71B-5145CAE19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3053A4-9B43-D619-DE1F-D5CC1DCA8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032"/>
            <a:ext cx="10515600" cy="864807"/>
          </a:xfrm>
        </p:spPr>
        <p:txBody>
          <a:bodyPr/>
          <a:lstStyle/>
          <a:p>
            <a:r>
              <a:rPr lang="en-US" altLang="zh-CN" dirty="0"/>
              <a:t>Total neutrino flux</a:t>
            </a:r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5CA29A7-5159-0F99-AFCB-F1A6B9E2F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8</a:t>
            </a:fld>
            <a:endParaRPr lang="zh-CN" altLang="en-US" dirty="0"/>
          </a:p>
        </p:txBody>
      </p:sp>
      <p:pic>
        <p:nvPicPr>
          <p:cNvPr id="8" name="图片 7" descr="图表, 折线图&#10;&#10;AI 生成的内容可能不正确。">
            <a:extLst>
              <a:ext uri="{FF2B5EF4-FFF2-40B4-BE49-F238E27FC236}">
                <a16:creationId xmlns:a16="http://schemas.microsoft.com/office/drawing/2014/main" id="{6E4E9FC6-D07C-6659-0A05-10853270A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035" y="1154964"/>
            <a:ext cx="5394971" cy="4014224"/>
          </a:xfrm>
          <a:prstGeom prst="rect">
            <a:avLst/>
          </a:prstGeom>
        </p:spPr>
      </p:pic>
      <p:sp>
        <p:nvSpPr>
          <p:cNvPr id="9" name="右大括号 8">
            <a:extLst>
              <a:ext uri="{FF2B5EF4-FFF2-40B4-BE49-F238E27FC236}">
                <a16:creationId xmlns:a16="http://schemas.microsoft.com/office/drawing/2014/main" id="{8F768A93-5A24-216C-6227-A99484EFC35A}"/>
              </a:ext>
            </a:extLst>
          </p:cNvPr>
          <p:cNvSpPr/>
          <p:nvPr/>
        </p:nvSpPr>
        <p:spPr>
          <a:xfrm rot="5400000">
            <a:off x="7196910" y="4690290"/>
            <a:ext cx="278435" cy="67936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353BA01-CB5A-779C-216F-88845E5E748D}"/>
              </a:ext>
            </a:extLst>
          </p:cNvPr>
          <p:cNvCxnSpPr>
            <a:cxnSpLocks/>
          </p:cNvCxnSpPr>
          <p:nvPr/>
        </p:nvCxnSpPr>
        <p:spPr>
          <a:xfrm flipH="1">
            <a:off x="7336127" y="5219337"/>
            <a:ext cx="1" cy="3622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43EF1758-640D-9181-268F-C705495264EB}"/>
                  </a:ext>
                </a:extLst>
              </p:cNvPr>
              <p:cNvSpPr txBox="1"/>
              <p:nvPr/>
            </p:nvSpPr>
            <p:spPr>
              <a:xfrm>
                <a:off x="6996447" y="5631774"/>
                <a:ext cx="305873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Detector with 5-meter radius will cover most of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43EF1758-640D-9181-268F-C70549526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6447" y="5631774"/>
                <a:ext cx="3058733" cy="646331"/>
              </a:xfrm>
              <a:prstGeom prst="rect">
                <a:avLst/>
              </a:prstGeom>
              <a:blipFill>
                <a:blip r:embed="rId3"/>
                <a:stretch>
                  <a:fillRect l="-1796" t="-5660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内容占位符 3">
                <a:extLst>
                  <a:ext uri="{FF2B5EF4-FFF2-40B4-BE49-F238E27FC236}">
                    <a16:creationId xmlns:a16="http://schemas.microsoft.com/office/drawing/2014/main" id="{CD60C771-D57B-8F21-31F0-0AEC921013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1318" y="1825626"/>
                <a:ext cx="5167649" cy="1980082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latin typeface="Cambria Math" panose="02040503050406030204" pitchFamily="18" charset="0"/>
                  </a:rPr>
                  <a:t>After consider 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𝜈</m:t>
                            </m:r>
                          </m:sub>
                        </m:sSub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=1.8×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11</m:t>
                        </m:r>
                      </m:sup>
                    </m:sSup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~1×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18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𝑦𝑒𝑎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内容占位符 3">
                <a:extLst>
                  <a:ext uri="{FF2B5EF4-FFF2-40B4-BE49-F238E27FC236}">
                    <a16:creationId xmlns:a16="http://schemas.microsoft.com/office/drawing/2014/main" id="{CD60C771-D57B-8F21-31F0-0AEC921013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1318" y="1825626"/>
                <a:ext cx="5167649" cy="1980082"/>
              </a:xfrm>
              <a:blipFill>
                <a:blip r:embed="rId4"/>
                <a:stretch>
                  <a:fillRect l="-1061" t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本框 2">
            <a:extLst>
              <a:ext uri="{FF2B5EF4-FFF2-40B4-BE49-F238E27FC236}">
                <a16:creationId xmlns:a16="http://schemas.microsoft.com/office/drawing/2014/main" id="{A55C3757-D605-4C74-C03E-FC8841F24F92}"/>
              </a:ext>
            </a:extLst>
          </p:cNvPr>
          <p:cNvSpPr txBox="1"/>
          <p:nvPr/>
        </p:nvSpPr>
        <p:spPr>
          <a:xfrm>
            <a:off x="8800563" y="1784835"/>
            <a:ext cx="242981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3TeV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MuC</a:t>
            </a:r>
            <a:br>
              <a:rPr lang="en-US" dirty="0"/>
            </a:br>
            <a:r>
              <a:rPr lang="en-US" dirty="0">
                <a:solidFill>
                  <a:srgbClr val="FF9900"/>
                </a:solidFill>
              </a:rPr>
              <a:t>10TeV </a:t>
            </a:r>
            <a:r>
              <a:rPr lang="en-US" dirty="0" err="1">
                <a:solidFill>
                  <a:srgbClr val="FF9900"/>
                </a:solidFill>
              </a:rPr>
              <a:t>MuC</a:t>
            </a:r>
            <a:endParaRPr lang="en-US" dirty="0">
              <a:solidFill>
                <a:srgbClr val="FF9900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E50AE1-5407-5371-4332-D2F5E7DFDDD3}"/>
              </a:ext>
            </a:extLst>
          </p:cNvPr>
          <p:cNvSpPr txBox="1"/>
          <p:nvPr/>
        </p:nvSpPr>
        <p:spPr>
          <a:xfrm>
            <a:off x="4734059" y="5633023"/>
            <a:ext cx="2201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50 km away from IP:</a:t>
            </a:r>
          </a:p>
        </p:txBody>
      </p:sp>
    </p:spTree>
    <p:extLst>
      <p:ext uri="{BB962C8B-B14F-4D97-AF65-F5344CB8AC3E}">
        <p14:creationId xmlns:p14="http://schemas.microsoft.com/office/powerpoint/2010/main" val="35507923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6ADD4-87B0-45D2-786E-A623084A3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6A8E5F-4BA9-78B6-FED6-C517D00D5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380" y="265"/>
            <a:ext cx="4648200" cy="819731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Angular distribution</a:t>
            </a:r>
            <a:endParaRPr 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D28968-23EE-6AC9-155A-CB67A512D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9</a:t>
            </a:fld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BC6C456-532B-E6A7-05DE-64421FE0082B}"/>
              </a:ext>
            </a:extLst>
          </p:cNvPr>
          <p:cNvSpPr txBox="1"/>
          <p:nvPr/>
        </p:nvSpPr>
        <p:spPr>
          <a:xfrm>
            <a:off x="7031865" y="136525"/>
            <a:ext cx="3509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consider beam divergence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6D5EBC6-F19B-B69B-F522-1D65C848B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010" y="1112882"/>
            <a:ext cx="5619750" cy="4181475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AE48027-7968-3258-3677-51CF76413B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241" y="1090344"/>
            <a:ext cx="5619750" cy="4181475"/>
          </a:xfrm>
          <a:prstGeom prst="rect">
            <a:avLst/>
          </a:prstGeom>
        </p:spPr>
      </p:pic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BDCEE9B2-FA16-1313-9F55-CDB1EBC2C3ED}"/>
              </a:ext>
            </a:extLst>
          </p:cNvPr>
          <p:cNvCxnSpPr>
            <a:cxnSpLocks/>
          </p:cNvCxnSpPr>
          <p:nvPr/>
        </p:nvCxnSpPr>
        <p:spPr>
          <a:xfrm flipH="1" flipV="1">
            <a:off x="875763" y="2009104"/>
            <a:ext cx="199623" cy="18416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FDE2EFED-B66F-977B-4A91-B081DDAF09FE}"/>
                  </a:ext>
                </a:extLst>
              </p:cNvPr>
              <p:cNvSpPr txBox="1"/>
              <p:nvPr/>
            </p:nvSpPr>
            <p:spPr>
              <a:xfrm>
                <a:off x="875763" y="3805707"/>
                <a:ext cx="1584102" cy="390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𝑝𝑒𝑎𝑘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2e-5</a:t>
                </a:r>
              </a:p>
            </p:txBody>
          </p:sp>
        </mc:Choice>
        <mc:Fallback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FDE2EFED-B66F-977B-4A91-B081DDAF09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63" y="3805707"/>
                <a:ext cx="1584102" cy="390748"/>
              </a:xfrm>
              <a:prstGeom prst="rect">
                <a:avLst/>
              </a:prstGeom>
              <a:blipFill>
                <a:blip r:embed="rId4"/>
                <a:stretch>
                  <a:fillRect t="-7813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3613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BD5CF-7CD1-FC01-0A2E-D42EC3556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805" y="91783"/>
            <a:ext cx="3437587" cy="819731"/>
          </a:xfrm>
        </p:spPr>
        <p:txBody>
          <a:bodyPr/>
          <a:lstStyle/>
          <a:p>
            <a:r>
              <a:rPr lang="en-US" altLang="zh-CN"/>
              <a:t>Spectrum</a:t>
            </a:r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531C67-FC7D-7067-556F-7795D5CB0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10</a:t>
            </a:fld>
            <a:endParaRPr lang="zh-CN" altLang="en-US" dirty="0"/>
          </a:p>
        </p:txBody>
      </p:sp>
      <p:pic>
        <p:nvPicPr>
          <p:cNvPr id="8" name="图片 7" descr="图表, 直方图&#10;&#10;AI 生成的内容可能不正确。">
            <a:extLst>
              <a:ext uri="{FF2B5EF4-FFF2-40B4-BE49-F238E27FC236}">
                <a16:creationId xmlns:a16="http://schemas.microsoft.com/office/drawing/2014/main" id="{1526DC2B-F905-FDFD-511C-CA03E88AB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39" y="1459468"/>
            <a:ext cx="11874321" cy="4701913"/>
          </a:xfrm>
          <a:prstGeom prst="rect">
            <a:avLst/>
          </a:prstGeom>
        </p:spPr>
      </p:pic>
      <p:pic>
        <p:nvPicPr>
          <p:cNvPr id="10" name="图片 9" descr="图表, 直方图&#10;&#10;AI 生成的内容可能不正确。">
            <a:extLst>
              <a:ext uri="{FF2B5EF4-FFF2-40B4-BE49-F238E27FC236}">
                <a16:creationId xmlns:a16="http://schemas.microsoft.com/office/drawing/2014/main" id="{2DCC3DB9-EC34-13C1-A5F2-E1A68548C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8" y="1459468"/>
            <a:ext cx="6126051" cy="4667468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A6167998-FDC1-01D3-A9FB-84EF71EA72EC}"/>
              </a:ext>
            </a:extLst>
          </p:cNvPr>
          <p:cNvSpPr txBox="1"/>
          <p:nvPr/>
        </p:nvSpPr>
        <p:spPr>
          <a:xfrm>
            <a:off x="850005" y="895167"/>
            <a:ext cx="3509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consider beam divergence</a:t>
            </a:r>
          </a:p>
        </p:txBody>
      </p:sp>
    </p:spTree>
    <p:extLst>
      <p:ext uri="{BB962C8B-B14F-4D97-AF65-F5344CB8AC3E}">
        <p14:creationId xmlns:p14="http://schemas.microsoft.com/office/powerpoint/2010/main" val="24324715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内容占位符 7" descr="图形用户界面&#10;&#10;AI 生成的内容可能不正确。">
            <a:extLst>
              <a:ext uri="{FF2B5EF4-FFF2-40B4-BE49-F238E27FC236}">
                <a16:creationId xmlns:a16="http://schemas.microsoft.com/office/drawing/2014/main" id="{39486E26-CFCE-CEB0-4DFF-8D1B00CFD6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32" y="385831"/>
            <a:ext cx="7233348" cy="4069264"/>
          </a:xfrm>
        </p:spPr>
      </p:pic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2EBC21-030D-628B-AD55-D4B3C9FD2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11</a:t>
            </a:fld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F6BADC87-B3AD-3E61-EBDC-0012EBA5531A}"/>
                  </a:ext>
                </a:extLst>
              </p:cNvPr>
              <p:cNvSpPr txBox="1"/>
              <p:nvPr/>
            </p:nvSpPr>
            <p:spPr>
              <a:xfrm>
                <a:off x="7798158" y="1716744"/>
                <a:ext cx="2846232" cy="7037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Assume Gaussian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~2∗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F6BADC87-B3AD-3E61-EBDC-0012EBA55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158" y="1716744"/>
                <a:ext cx="2846232" cy="703719"/>
              </a:xfrm>
              <a:prstGeom prst="rect">
                <a:avLst/>
              </a:prstGeom>
              <a:blipFill>
                <a:blip r:embed="rId3"/>
                <a:stretch>
                  <a:fillRect l="-1713" t="-5217" b="-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5785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1FD1D-FE02-15F7-5740-7090EC6E0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728DC1-1E99-C667-1A11-0681796C4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805" y="91783"/>
            <a:ext cx="10515600" cy="819731"/>
          </a:xfrm>
        </p:spPr>
        <p:txBody>
          <a:bodyPr/>
          <a:lstStyle/>
          <a:p>
            <a:r>
              <a:rPr lang="en-US" altLang="zh-CN"/>
              <a:t>Spectrum</a:t>
            </a:r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EBCB3A-8301-F9FA-226B-E0015D082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12</a:t>
            </a:fld>
            <a:endParaRPr lang="zh-CN" altLang="en-US" dirty="0"/>
          </a:p>
        </p:txBody>
      </p:sp>
      <p:pic>
        <p:nvPicPr>
          <p:cNvPr id="7" name="图片 6" descr="图表&#10;&#10;AI 生成的内容可能不正确。">
            <a:extLst>
              <a:ext uri="{FF2B5EF4-FFF2-40B4-BE49-F238E27FC236}">
                <a16:creationId xmlns:a16="http://schemas.microsoft.com/office/drawing/2014/main" id="{591EFAEA-BF87-5F67-EBB5-D128EFF0A8F2}"/>
              </a:ext>
            </a:extLst>
          </p:cNvPr>
          <p:cNvPicPr>
            <a:picLocks/>
          </p:cNvPicPr>
          <p:nvPr/>
        </p:nvPicPr>
        <p:blipFill>
          <a:blip r:embed="rId2"/>
          <a:srcRect l="-50" t="49139"/>
          <a:stretch>
            <a:fillRect/>
          </a:stretch>
        </p:blipFill>
        <p:spPr>
          <a:xfrm>
            <a:off x="143813" y="3233447"/>
            <a:ext cx="12902485" cy="3488028"/>
          </a:xfrm>
          <a:prstGeom prst="rect">
            <a:avLst/>
          </a:prstGeom>
        </p:spPr>
      </p:pic>
      <p:pic>
        <p:nvPicPr>
          <p:cNvPr id="9" name="图片 8" descr="图表&#10;&#10;AI 生成的内容可能不正确。">
            <a:extLst>
              <a:ext uri="{FF2B5EF4-FFF2-40B4-BE49-F238E27FC236}">
                <a16:creationId xmlns:a16="http://schemas.microsoft.com/office/drawing/2014/main" id="{393ADFBC-A4E3-AB38-F258-52B7D762FA9A}"/>
              </a:ext>
            </a:extLst>
          </p:cNvPr>
          <p:cNvPicPr>
            <a:picLocks/>
          </p:cNvPicPr>
          <p:nvPr/>
        </p:nvPicPr>
        <p:blipFill>
          <a:blip r:embed="rId2"/>
          <a:srcRect r="49893" b="50861"/>
          <a:stretch>
            <a:fillRect/>
          </a:stretch>
        </p:blipFill>
        <p:spPr>
          <a:xfrm>
            <a:off x="7540804" y="-69537"/>
            <a:ext cx="4507382" cy="3369972"/>
          </a:xfrm>
          <a:prstGeom prst="rect">
            <a:avLst/>
          </a:prstGeom>
        </p:spPr>
      </p:pic>
      <p:pic>
        <p:nvPicPr>
          <p:cNvPr id="11" name="图片 10" descr="图表, 折线图&#10;&#10;AI 生成的内容可能不正确。">
            <a:extLst>
              <a:ext uri="{FF2B5EF4-FFF2-40B4-BE49-F238E27FC236}">
                <a16:creationId xmlns:a16="http://schemas.microsoft.com/office/drawing/2014/main" id="{53D5D615-DC4E-E361-8E21-C924B2267B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492" y="136525"/>
            <a:ext cx="2638345" cy="3049988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97DE3C22-7DA8-06D5-C1EA-4DC85B71FA53}"/>
              </a:ext>
            </a:extLst>
          </p:cNvPr>
          <p:cNvSpPr txBox="1"/>
          <p:nvPr/>
        </p:nvSpPr>
        <p:spPr>
          <a:xfrm>
            <a:off x="3442542" y="501648"/>
            <a:ext cx="2589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 beam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4F80521-66EB-06BB-825C-E405EFE5964E}"/>
                  </a:ext>
                </a:extLst>
              </p:cNvPr>
              <p:cNvSpPr txBox="1"/>
              <p:nvPr/>
            </p:nvSpPr>
            <p:spPr>
              <a:xfrm>
                <a:off x="3442541" y="3673542"/>
                <a:ext cx="2589063" cy="6682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With beam 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4F80521-66EB-06BB-825C-E405EFE59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541" y="3673542"/>
                <a:ext cx="2589063" cy="668260"/>
              </a:xfrm>
              <a:prstGeom prst="rect">
                <a:avLst/>
              </a:prstGeom>
              <a:blipFill>
                <a:blip r:embed="rId4"/>
                <a:stretch>
                  <a:fillRect l="-2123" t="-5505" b="-18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A0235CC3-A0F1-5ADB-30F4-359F552071EC}"/>
              </a:ext>
            </a:extLst>
          </p:cNvPr>
          <p:cNvSpPr txBox="1"/>
          <p:nvPr/>
        </p:nvSpPr>
        <p:spPr>
          <a:xfrm>
            <a:off x="1829449" y="1209419"/>
            <a:ext cx="17508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9900"/>
                </a:solidFill>
              </a:rPr>
              <a:t>10 TeV </a:t>
            </a:r>
            <a:r>
              <a:rPr lang="en-US" dirty="0" err="1">
                <a:solidFill>
                  <a:srgbClr val="FF9900"/>
                </a:solidFill>
              </a:rPr>
              <a:t>MuC</a:t>
            </a:r>
            <a:endParaRPr lang="en-US" dirty="0">
              <a:solidFill>
                <a:srgbClr val="FF9900"/>
              </a:solidFill>
            </a:endParaRPr>
          </a:p>
          <a:p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3 TeV </a:t>
            </a:r>
            <a:r>
              <a:rPr lang="en-US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MuC</a:t>
            </a:r>
            <a:endParaRPr lang="en-US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1CC6B0C-39D3-BB9E-FCC8-2EE01C53D744}"/>
              </a:ext>
            </a:extLst>
          </p:cNvPr>
          <p:cNvSpPr txBox="1"/>
          <p:nvPr/>
        </p:nvSpPr>
        <p:spPr>
          <a:xfrm>
            <a:off x="3670479" y="4730889"/>
            <a:ext cx="1416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10 TeV </a:t>
            </a:r>
            <a:r>
              <a:rPr lang="en-US" dirty="0" err="1">
                <a:solidFill>
                  <a:srgbClr val="FF0000"/>
                </a:solidFill>
              </a:rPr>
              <a:t>MuC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95930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标题 1">
                <a:extLst>
                  <a:ext uri="{FF2B5EF4-FFF2-40B4-BE49-F238E27FC236}">
                    <a16:creationId xmlns:a16="http://schemas.microsoft.com/office/drawing/2014/main" id="{F2764675-BB4D-EF42-A300-22FEBEA4D78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Total number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标题 1">
                <a:extLst>
                  <a:ext uri="{FF2B5EF4-FFF2-40B4-BE49-F238E27FC236}">
                    <a16:creationId xmlns:a16="http://schemas.microsoft.com/office/drawing/2014/main" id="{F2764675-BB4D-EF42-A300-22FEBEA4D7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AF353D8-CB23-8A33-ABBA-B2378AEA1B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𝜈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=1.8×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𝑏𝑢𝑛𝑐h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𝑖𝑛𝑗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𝑡𝑢𝑟𝑛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∗3600=1.8×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𝑡𝑢𝑟𝑛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𝛾𝜏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5×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∗2.2×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∗3×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8.7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𝑘𝑚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=3600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AF353D8-CB23-8A33-ABBA-B2378AEA1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9758C80-0566-BC7E-5F1C-A59CBE626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13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25358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E81AF-9F30-9137-9E3F-55FB5FA7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CC702A-33B9-0DA7-0ED0-07C0ED296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032"/>
            <a:ext cx="10515600" cy="864807"/>
          </a:xfrm>
        </p:spPr>
        <p:txBody>
          <a:bodyPr/>
          <a:lstStyle/>
          <a:p>
            <a:r>
              <a:rPr lang="en-US" dirty="0"/>
              <a:t>Note</a:t>
            </a:r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26C9DD-EA94-88ED-E38B-BB62710B7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14</a:t>
            </a:fld>
            <a:endParaRPr lang="zh-CN" altLang="en-US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3A98C91B-A61F-5194-E47F-3B98B15D7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271" y="1350846"/>
            <a:ext cx="9242213" cy="4310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652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98578-6BBA-A04F-E6B7-3A6AC77A0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27E3E-B18E-92F3-DD30-5DAB4109C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032"/>
            <a:ext cx="10515600" cy="864807"/>
          </a:xfrm>
        </p:spPr>
        <p:txBody>
          <a:bodyPr/>
          <a:lstStyle/>
          <a:p>
            <a:r>
              <a:rPr lang="en-US" dirty="0"/>
              <a:t>Note</a:t>
            </a:r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B02D113-53C2-12E5-31EC-F3D7DC458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15</a:t>
            </a:fld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内容占位符 3">
                <a:extLst>
                  <a:ext uri="{FF2B5EF4-FFF2-40B4-BE49-F238E27FC236}">
                    <a16:creationId xmlns:a16="http://schemas.microsoft.com/office/drawing/2014/main" id="{B14D70BE-3F12-2F63-DEC4-3677B1FC69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8905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𝜈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decay at z=0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=0)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𝑑𝑁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𝑑𝐴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𝑑𝑁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=∫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𝑑𝑧</m:t>
                    </m:r>
                  </m:oMath>
                </a14:m>
                <a:r>
                  <a:rPr lang="en-US" dirty="0"/>
                  <a:t> 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2∗150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内容占位符 3">
                <a:extLst>
                  <a:ext uri="{FF2B5EF4-FFF2-40B4-BE49-F238E27FC236}">
                    <a16:creationId xmlns:a16="http://schemas.microsoft.com/office/drawing/2014/main" id="{B14D70BE-3F12-2F63-DEC4-3677B1FC69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8905"/>
                <a:ext cx="10515600" cy="4351338"/>
              </a:xfrm>
              <a:blipFill>
                <a:blip r:embed="rId2"/>
                <a:stretch>
                  <a:fillRect t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41809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8DC3C-EA67-AEDC-D694-1132DE947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5D4E49-AEE9-1E22-5EB1-6365E3DB9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032"/>
            <a:ext cx="10515600" cy="864807"/>
          </a:xfrm>
        </p:spPr>
        <p:txBody>
          <a:bodyPr/>
          <a:lstStyle/>
          <a:p>
            <a:r>
              <a:rPr lang="en-US" dirty="0"/>
              <a:t>Note</a:t>
            </a:r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017857-0726-B6C4-9FE9-A0CFA245D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9FE219-8C91-41EA-B415-E8E26B7A5CDA}" type="slidenum">
              <a:rPr lang="zh-CN" altLang="en-US" smtClean="0"/>
              <a:pPr/>
              <a:t>16</a:t>
            </a:fld>
            <a:endParaRPr lang="zh-CN" alt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E964E-F997-CFAB-4AFB-FDC641B40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055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定义 1">
      <a:majorFont>
        <a:latin typeface="Times New Roman"/>
        <a:ea typeface="等线 Light"/>
        <a:cs typeface=""/>
      </a:majorFont>
      <a:minorFont>
        <a:latin typeface="Times New Roman"/>
        <a:ea typeface="等线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19973</TotalTime>
  <Words>269</Words>
  <Application>Microsoft Office PowerPoint</Application>
  <PresentationFormat>宽屏</PresentationFormat>
  <Paragraphs>62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等线</vt:lpstr>
      <vt:lpstr>Arial</vt:lpstr>
      <vt:lpstr>Cambria Math</vt:lpstr>
      <vt:lpstr>Times New Roman</vt:lpstr>
      <vt:lpstr>Office 主题​​</vt:lpstr>
      <vt:lpstr>ν @ MuC</vt:lpstr>
      <vt:lpstr>MuC 10 TeV configuration</vt:lpstr>
      <vt:lpstr>PowerPoint 演示文稿</vt:lpstr>
      <vt:lpstr>(dN_ν)/dθ: ν angular distribution from a 5TeV μ decay at center (z=0)</vt:lpstr>
      <vt:lpstr>Comparing analytic and numerical result </vt:lpstr>
      <vt:lpstr>Compare with 2412.14115 </vt:lpstr>
      <vt:lpstr>Angular distribution</vt:lpstr>
      <vt:lpstr>Total neutrino flux</vt:lpstr>
      <vt:lpstr>Angular distribution</vt:lpstr>
      <vt:lpstr>Spectrum</vt:lpstr>
      <vt:lpstr>PowerPoint 演示文稿</vt:lpstr>
      <vt:lpstr>Spectrum</vt:lpstr>
      <vt:lpstr>Total number of ν</vt:lpstr>
      <vt:lpstr>Note</vt:lpstr>
      <vt:lpstr>Note</vt:lpstr>
      <vt:lpstr>Note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Peiran Li</dc:creator>
  <cp:lastModifiedBy>Peiran Li</cp:lastModifiedBy>
  <cp:revision>219</cp:revision>
  <dcterms:created xsi:type="dcterms:W3CDTF">2024-08-05T12:22:18Z</dcterms:created>
  <dcterms:modified xsi:type="dcterms:W3CDTF">2026-03-23T18:42:41Z</dcterms:modified>
</cp:coreProperties>
</file>